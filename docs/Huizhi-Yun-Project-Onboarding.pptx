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9"/>
  </p:normalViewPr>
  <p:slideViewPr>
    <p:cSldViewPr snapToGrid="0">
      <p:cViewPr varScale="1">
        <p:scale>
          <a:sx n="99" d="100"/>
          <a:sy n="99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EABBF3B-59D3-4728-821F-1FE56FA809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28EF34-D4CD-43CB-B8A8-58A33487FE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7165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CC5922-FE54-4DBA-877B-5993E696762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7F3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7F3D0"/>
                </a:solidFill>
                <a:latin typeface="Avenir Next"/>
                <a:ea typeface="Avenir Next"/>
                <a:cs typeface="Avenir Next"/>
              </a:rPr>
              <a:t>HUIZHI.YUN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137BB6-D401-485C-BD1E-B1211FA4BD73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6858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汇智云项目</a:t>
            </a:r>
            <a:r>
              <a:rPr lang="en-US" sz="29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总体</a:t>
            </a:r>
            <a:r>
              <a:rPr sz="29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介绍</a:t>
            </a:r>
            <a:endParaRPr sz="29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A2D53C-8A0E-41DF-87C3-0BDE76A2FBE2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619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 err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架构、模块、部署与近期路线</a:t>
            </a:r>
            <a:endParaRPr sz="1125" b="0" dirty="0">
              <a:solidFill>
                <a:srgbClr val="64748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BA2ABB-0E03-4583-9189-129EB9DCEF79}"/>
              </a:ext>
            </a:extLst>
          </p:cNvPr>
          <p:cNvSpPr>
            <a:spLocks noGrp="1"/>
          </p:cNvSpPr>
          <p:nvPr/>
        </p:nvSpPr>
        <p:spPr>
          <a:xfrm>
            <a:off x="552450" y="2457450"/>
            <a:ext cx="8191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一套平台内核，把企业研发、知识、经营、财务和资产作业串成可治理的 SaaS。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29D43A-DBFF-46FC-AB86-03BFEB2186D2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这份 PPT 的重点不是逐页复述代码，而是建立判断框架：新需求该落在哪个模块、用什么事实源、走哪条认证/调用链路、如何避免跨边界耦合。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2390F5-E6AC-4530-B871-68F112644723}"/>
              </a:ext>
            </a:extLst>
          </p:cNvPr>
          <p:cNvSpPr>
            <a:spLocks noGrp="1"/>
          </p:cNvSpPr>
          <p:nvPr/>
        </p:nvSpPr>
        <p:spPr>
          <a:xfrm>
            <a:off x="552450" y="5029200"/>
            <a:ext cx="9525" cy="552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3AAF9D-29A5-47F4-BDE6-18B471AFEC50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63EC5E-8E11-48F4-8F1D-E5414765F3FA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5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WORKSPACE MODULES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C5BBB6-F9DA-48B3-B2F8-CDB4A487D716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多 Nuxt 模块 + 独立数据库 + Foundation 共享层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0F3F04-1616-4AD2-A503-031713724C24}"/>
              </a:ext>
            </a:extLst>
          </p:cNvPr>
          <p:cNvSpPr>
            <a:spLocks noGrp="1"/>
          </p:cNvSpPr>
          <p:nvPr/>
        </p:nvSpPr>
        <p:spPr>
          <a:xfrm>
            <a:off x="2905125" y="5029200"/>
            <a:ext cx="9525" cy="5524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8F17BA-6C49-4CEC-B124-E61980599DB7}"/>
              </a:ext>
            </a:extLst>
          </p:cNvPr>
          <p:cNvSpPr>
            <a:spLocks noGrp="1"/>
          </p:cNvSpPr>
          <p:nvPr/>
        </p:nvSpPr>
        <p:spPr>
          <a:xfrm>
            <a:off x="3038475" y="510540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5884CA-AF62-4169-9A0D-A81CB3D77AC7}"/>
              </a:ext>
            </a:extLst>
          </p:cNvPr>
          <p:cNvSpPr>
            <a:spLocks noGrp="1"/>
          </p:cNvSpPr>
          <p:nvPr/>
        </p:nvSpPr>
        <p:spPr>
          <a:xfrm>
            <a:off x="3038475" y="54864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5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ARCHITECTURE PLANES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836F87-09A2-4097-AFB1-214EA634EB12}"/>
              </a:ext>
            </a:extLst>
          </p:cNvPr>
          <p:cNvSpPr>
            <a:spLocks noGrp="1"/>
          </p:cNvSpPr>
          <p:nvPr/>
        </p:nvSpPr>
        <p:spPr>
          <a:xfrm>
            <a:off x="3038475" y="56578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控制面、运行时、业务面、数据面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3C78AA-D95E-4CC8-A065-5291897E12BF}"/>
              </a:ext>
            </a:extLst>
          </p:cNvPr>
          <p:cNvSpPr>
            <a:spLocks noGrp="1"/>
          </p:cNvSpPr>
          <p:nvPr/>
        </p:nvSpPr>
        <p:spPr>
          <a:xfrm>
            <a:off x="5257800" y="5029200"/>
            <a:ext cx="9525" cy="5524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06ACBA-F36E-4521-96B3-147E21AF6BB4}"/>
              </a:ext>
            </a:extLst>
          </p:cNvPr>
          <p:cNvSpPr>
            <a:spLocks noGrp="1"/>
          </p:cNvSpPr>
          <p:nvPr/>
        </p:nvSpPr>
        <p:spPr>
          <a:xfrm>
            <a:off x="5391150" y="510540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C3299A-024C-4B14-98AD-79A8C3934A3D}"/>
              </a:ext>
            </a:extLst>
          </p:cNvPr>
          <p:cNvSpPr>
            <a:spLocks noGrp="1"/>
          </p:cNvSpPr>
          <p:nvPr/>
        </p:nvSpPr>
        <p:spPr>
          <a:xfrm>
            <a:off x="5391150" y="54864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5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MAIN DEPLOYMENT MODES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F60F0C-8A6A-4E88-8AC3-8AA5111B93EF}"/>
              </a:ext>
            </a:extLst>
          </p:cNvPr>
          <p:cNvSpPr>
            <a:spLocks noGrp="1"/>
          </p:cNvSpPr>
          <p:nvPr/>
        </p:nvSpPr>
        <p:spPr>
          <a:xfrm>
            <a:off x="5391150" y="56578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managed-cloud-agent 与 self-hosted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5B3A2E-F3C3-417C-8036-DAA935DC14D7}"/>
              </a:ext>
            </a:extLst>
          </p:cNvPr>
          <p:cNvSpPr>
            <a:spLocks noGrp="1"/>
          </p:cNvSpPr>
          <p:nvPr/>
        </p:nvSpPr>
        <p:spPr>
          <a:xfrm>
            <a:off x="8953500" y="2343150"/>
            <a:ext cx="2190750" cy="24765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C0DD83-F37F-4F13-AB59-9FD7EF611BB5}"/>
              </a:ext>
            </a:extLst>
          </p:cNvPr>
          <p:cNvSpPr>
            <a:spLocks noGrp="1"/>
          </p:cNvSpPr>
          <p:nvPr/>
        </p:nvSpPr>
        <p:spPr>
          <a:xfrm>
            <a:off x="9220200" y="2647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讲解目标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03205E-2ED6-48CD-BE73-18A17C2B7C95}"/>
              </a:ext>
            </a:extLst>
          </p:cNvPr>
          <p:cNvSpPr>
            <a:spLocks noGrp="1"/>
          </p:cNvSpPr>
          <p:nvPr/>
        </p:nvSpPr>
        <p:spPr>
          <a:xfrm>
            <a:off x="9220200" y="310515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1. 看清平台目标</a:t>
            </a:r>
          </a:p>
          <a:p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2. 看清模块边界</a:t>
            </a:r>
          </a:p>
          <a:p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3. 看清部署演进</a:t>
            </a:r>
          </a:p>
          <a:p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4. 找到第一周切入点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B4DA1A-F7A5-45C1-9AEA-B5A734179A7E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D5EE64-EBB5-43FA-83B6-DE2B735A3A5B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来源：CLAUDE.md、MODULE_CONTRACTS.md、目标架构与部署文档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E0C2B9-75A3-4262-942A-74465B9F6F23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691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88B2A38-C9F7-482F-8461-29BC2AAB9B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50BF5B2-1D44-484F-8AD9-6F7DF74E6C14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14E86F6-9D88-44C1-A7A5-B7166A803ED4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PRODUCT THESIS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8AF55E-76CF-4004-AB38-15FB1030FAAF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汇智云解决的不是“再做一个工具”，而是企业作业数据被多个工具切碎的问题。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32EEFE-6C67-481A-A059-9D71DBF4196C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2819400" cy="16954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FEC9D0-B00B-4FF0-9D14-3D52BDF5B78B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47625" cy="16954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608CC-F35F-4443-9EFB-0ED6CFE7B9C2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企业现状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CAD30B-4C13-43D2-838F-F1CFF5502800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2476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项目、文档、CRM、财务、审批、代码数据分散在不同系统；重复录入多，经营和交付难以闭环。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A5A1CE-C15E-4858-AFC4-5354DE33122C}"/>
              </a:ext>
            </a:extLst>
          </p:cNvPr>
          <p:cNvSpPr>
            <a:spLocks noGrp="1"/>
          </p:cNvSpPr>
          <p:nvPr/>
        </p:nvSpPr>
        <p:spPr>
          <a:xfrm>
            <a:off x="4171950" y="2190750"/>
            <a:ext cx="2819400" cy="16954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86EB2E-5418-4297-B99C-52850D9F15AC}"/>
              </a:ext>
            </a:extLst>
          </p:cNvPr>
          <p:cNvSpPr>
            <a:spLocks noGrp="1"/>
          </p:cNvSpPr>
          <p:nvPr/>
        </p:nvSpPr>
        <p:spPr>
          <a:xfrm>
            <a:off x="4171950" y="2190750"/>
            <a:ext cx="47625" cy="1695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F50601-15B9-4B6B-925F-574D412937A7}"/>
              </a:ext>
            </a:extLst>
          </p:cNvPr>
          <p:cNvSpPr>
            <a:spLocks noGrp="1"/>
          </p:cNvSpPr>
          <p:nvPr/>
        </p:nvSpPr>
        <p:spPr>
          <a:xfrm>
            <a:off x="4362450" y="23622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平台目标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07DFA3-0FA5-4A65-8F5A-5A4B7C44990B}"/>
              </a:ext>
            </a:extLst>
          </p:cNvPr>
          <p:cNvSpPr>
            <a:spLocks noGrp="1"/>
          </p:cNvSpPr>
          <p:nvPr/>
        </p:nvSpPr>
        <p:spPr>
          <a:xfrm>
            <a:off x="4362450" y="2705100"/>
            <a:ext cx="2476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用统一身份、目录、权限、审批、入口和运行时配置，把作业过程和结果串起来。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860904-F962-4B27-ACA7-D59F6752C3CF}"/>
              </a:ext>
            </a:extLst>
          </p:cNvPr>
          <p:cNvSpPr>
            <a:spLocks noGrp="1"/>
          </p:cNvSpPr>
          <p:nvPr/>
        </p:nvSpPr>
        <p:spPr>
          <a:xfrm>
            <a:off x="7639050" y="2190750"/>
            <a:ext cx="2819400" cy="16954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840550-8FAF-4EFA-8653-C3E80BC3815B}"/>
              </a:ext>
            </a:extLst>
          </p:cNvPr>
          <p:cNvSpPr>
            <a:spLocks noGrp="1"/>
          </p:cNvSpPr>
          <p:nvPr/>
        </p:nvSpPr>
        <p:spPr>
          <a:xfrm>
            <a:off x="7639050" y="2190750"/>
            <a:ext cx="47625" cy="16954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691453-A7F0-483C-A7D0-611F76360BAC}"/>
              </a:ext>
            </a:extLst>
          </p:cNvPr>
          <p:cNvSpPr>
            <a:spLocks noGrp="1"/>
          </p:cNvSpPr>
          <p:nvPr/>
        </p:nvSpPr>
        <p:spPr>
          <a:xfrm>
            <a:off x="7829550" y="23622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商业形态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C8119F-7081-4D22-902A-6D062DFAA783}"/>
              </a:ext>
            </a:extLst>
          </p:cNvPr>
          <p:cNvSpPr>
            <a:spLocks noGrp="1"/>
          </p:cNvSpPr>
          <p:nvPr/>
        </p:nvSpPr>
        <p:spPr>
          <a:xfrm>
            <a:off x="7829550" y="2705100"/>
            <a:ext cx="2476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平台方治理租户和应用；客户侧保留数据面控制权；高安全客户可 self-hosted。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A04730-867A-4619-B8BA-D92093B316D5}"/>
              </a:ext>
            </a:extLst>
          </p:cNvPr>
          <p:cNvSpPr>
            <a:spLocks noGrp="1"/>
          </p:cNvSpPr>
          <p:nvPr/>
        </p:nvSpPr>
        <p:spPr>
          <a:xfrm>
            <a:off x="3524250" y="3028950"/>
            <a:ext cx="552450" cy="19050"/>
          </a:xfrm>
          <a:prstGeom prst="rect">
            <a:avLst/>
          </a:prstGeom>
          <a:solidFill>
            <a:srgbClr val="6474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CD9ADE-34E7-482C-B6C2-15BB988A5DCC}"/>
              </a:ext>
            </a:extLst>
          </p:cNvPr>
          <p:cNvSpPr>
            <a:spLocks noGrp="1"/>
          </p:cNvSpPr>
          <p:nvPr/>
        </p:nvSpPr>
        <p:spPr>
          <a:xfrm>
            <a:off x="4076700" y="2990850"/>
            <a:ext cx="95250" cy="95250"/>
          </a:xfrm>
          <a:prstGeom prst="rect">
            <a:avLst/>
          </a:prstGeom>
          <a:solidFill>
            <a:srgbClr val="6474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441B6D-D65D-42AD-A125-D4AB40D25FFD}"/>
              </a:ext>
            </a:extLst>
          </p:cNvPr>
          <p:cNvSpPr>
            <a:spLocks noGrp="1"/>
          </p:cNvSpPr>
          <p:nvPr/>
        </p:nvSpPr>
        <p:spPr>
          <a:xfrm>
            <a:off x="6991350" y="3028950"/>
            <a:ext cx="552450" cy="19050"/>
          </a:xfrm>
          <a:prstGeom prst="rect">
            <a:avLst/>
          </a:prstGeom>
          <a:solidFill>
            <a:srgbClr val="6474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E7804F-C45D-44A6-98B1-DAD96387D9BC}"/>
              </a:ext>
            </a:extLst>
          </p:cNvPr>
          <p:cNvSpPr>
            <a:spLocks noGrp="1"/>
          </p:cNvSpPr>
          <p:nvPr/>
        </p:nvSpPr>
        <p:spPr>
          <a:xfrm>
            <a:off x="7543800" y="2990850"/>
            <a:ext cx="95250" cy="95250"/>
          </a:xfrm>
          <a:prstGeom prst="rect">
            <a:avLst/>
          </a:prstGeom>
          <a:solidFill>
            <a:srgbClr val="6474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D3D901-684A-4353-BE2D-A6ED2CAA5FBA}"/>
              </a:ext>
            </a:extLst>
          </p:cNvPr>
          <p:cNvSpPr>
            <a:spLocks noGrp="1"/>
          </p:cNvSpPr>
          <p:nvPr/>
        </p:nvSpPr>
        <p:spPr>
          <a:xfrm>
            <a:off x="781050" y="46196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判断标准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377976-6555-4FB7-A4DE-2DF73C0CEAC2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8667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任何新增功能都要回答四个问题：它的事实源是谁？是否需要跨模块 API？是否复用 Foundation？是否引入了新的平台级 secret 或 IAM 分叉？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6F2B0A-858C-47AD-B417-DD29C8EC7B3C}"/>
              </a:ext>
            </a:extLst>
          </p:cNvPr>
          <p:cNvSpPr>
            <a:spLocks noGrp="1"/>
          </p:cNvSpPr>
          <p:nvPr/>
        </p:nvSpPr>
        <p:spPr>
          <a:xfrm>
            <a:off x="9829800" y="4591050"/>
            <a:ext cx="1219200" cy="781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FB910B-91A0-45CD-84D8-42104CC1C018}"/>
              </a:ext>
            </a:extLst>
          </p:cNvPr>
          <p:cNvSpPr>
            <a:spLocks noGrp="1"/>
          </p:cNvSpPr>
          <p:nvPr/>
        </p:nvSpPr>
        <p:spPr>
          <a:xfrm>
            <a:off x="10039350" y="4781550"/>
            <a:ext cx="781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</a:t>
            </a:r>
          </a:p>
          <a:p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工具合集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B61B05-F1AC-4E78-ADEC-B0F765258585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D71336-1EC2-4DD2-9F88-844F8E721A10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44E392-B11C-43B7-82D6-8375A1712B00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008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D98CC4A-4D94-4681-A274-622CE0CFD2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4602E0A-4016-44E2-AD97-00D8494CDC58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CF80E0C-16FD-4442-814F-9CCE3203B7AF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FOUR PLANES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775A19-8097-4CA0-8A2A-4D7E52118799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四层架构把“谁治理、谁运行、谁做业务、谁保存数据”拆清楚。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4E20EF-BBC5-4591-B3FA-59849845C7FA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10096500" cy="6667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E75819-13C7-4021-9251-0B927E83B4FA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76200" cy="66675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82A354-B0F0-4792-9A6D-7B9B3093D0C8}"/>
              </a:ext>
            </a:extLst>
          </p:cNvPr>
          <p:cNvSpPr>
            <a:spLocks noGrp="1"/>
          </p:cNvSpPr>
          <p:nvPr/>
        </p:nvSpPr>
        <p:spPr>
          <a:xfrm>
            <a:off x="1028700" y="21145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Control / Identity Plane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1CD5D6-F626-42F7-86BA-D178720FCB2B}"/>
              </a:ext>
            </a:extLst>
          </p:cNvPr>
          <p:cNvSpPr>
            <a:spLocks noGrp="1"/>
          </p:cNvSpPr>
          <p:nvPr/>
        </p:nvSpPr>
        <p:spPr>
          <a:xfrm>
            <a:off x="3790950" y="211455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7F3D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A7F3D0"/>
                </a:solidFill>
                <a:latin typeface="Avenir Next"/>
                <a:ea typeface="Avenir Next"/>
                <a:cs typeface="Avenir Next"/>
              </a:rPr>
              <a:t>platform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7581C6-3572-4368-8E33-887DA3857313}"/>
              </a:ext>
            </a:extLst>
          </p:cNvPr>
          <p:cNvSpPr>
            <a:spLocks noGrp="1"/>
          </p:cNvSpPr>
          <p:nvPr/>
        </p:nvSpPr>
        <p:spPr>
          <a:xfrm>
            <a:off x="6667500" y="211455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租户、订阅、应用、部署、License、policy bundle、revocation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905F98-79DD-4003-BDD0-41D3E6C45DB1}"/>
              </a:ext>
            </a:extLst>
          </p:cNvPr>
          <p:cNvSpPr>
            <a:spLocks noGrp="1"/>
          </p:cNvSpPr>
          <p:nvPr/>
        </p:nvSpPr>
        <p:spPr>
          <a:xfrm>
            <a:off x="5791200" y="2667000"/>
            <a:ext cx="19050" cy="114300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AA3D2B-9201-41D0-857A-0EED24BF8AA6}"/>
              </a:ext>
            </a:extLst>
          </p:cNvPr>
          <p:cNvSpPr>
            <a:spLocks noGrp="1"/>
          </p:cNvSpPr>
          <p:nvPr/>
        </p:nvSpPr>
        <p:spPr>
          <a:xfrm>
            <a:off x="5753100" y="2781300"/>
            <a:ext cx="95250" cy="95250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4E6C43-8BD3-466C-9B48-0FE4709B23DE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10096500" cy="666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07A7CB-4268-4BCE-827D-A7A1C9CC9D46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76200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DFA068-0FDE-4BF3-BDF4-CD3C5A72BFE3}"/>
              </a:ext>
            </a:extLst>
          </p:cNvPr>
          <p:cNvSpPr>
            <a:spLocks noGrp="1"/>
          </p:cNvSpPr>
          <p:nvPr/>
        </p:nvSpPr>
        <p:spPr>
          <a:xfrm>
            <a:off x="1028700" y="30099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Tenant Runtime Plane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4F5885-C2DB-489B-BE52-B6E10475ACEB}"/>
              </a:ext>
            </a:extLst>
          </p:cNvPr>
          <p:cNvSpPr>
            <a:spLocks noGrp="1"/>
          </p:cNvSpPr>
          <p:nvPr/>
        </p:nvSpPr>
        <p:spPr>
          <a:xfrm>
            <a:off x="3790950" y="30099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console / workflow / collab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BA8C19-AEFA-4BF4-8251-1C245FF868B9}"/>
              </a:ext>
            </a:extLst>
          </p:cNvPr>
          <p:cNvSpPr>
            <a:spLocks noGrp="1"/>
          </p:cNvSpPr>
          <p:nvPr/>
        </p:nvSpPr>
        <p:spPr>
          <a:xfrm>
            <a:off x="6667500" y="300990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企业目录、认证、配置、凭证、员工入口、审批、协作运行时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57E2FF-5647-4B02-A797-73F843CF0C3B}"/>
              </a:ext>
            </a:extLst>
          </p:cNvPr>
          <p:cNvSpPr>
            <a:spLocks noGrp="1"/>
          </p:cNvSpPr>
          <p:nvPr/>
        </p:nvSpPr>
        <p:spPr>
          <a:xfrm>
            <a:off x="5791200" y="3562350"/>
            <a:ext cx="19050" cy="114300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E4C577-B2B7-4F84-BDE4-0C13C9AB96E4}"/>
              </a:ext>
            </a:extLst>
          </p:cNvPr>
          <p:cNvSpPr>
            <a:spLocks noGrp="1"/>
          </p:cNvSpPr>
          <p:nvPr/>
        </p:nvSpPr>
        <p:spPr>
          <a:xfrm>
            <a:off x="5753100" y="3676650"/>
            <a:ext cx="95250" cy="95250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FE570E-258C-47AC-A736-FADCB29CB03A}"/>
              </a:ext>
            </a:extLst>
          </p:cNvPr>
          <p:cNvSpPr>
            <a:spLocks noGrp="1"/>
          </p:cNvSpPr>
          <p:nvPr/>
        </p:nvSpPr>
        <p:spPr>
          <a:xfrm>
            <a:off x="762000" y="3771900"/>
            <a:ext cx="10096500" cy="666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C90896-5C76-4C17-AE92-181A94ADAC53}"/>
              </a:ext>
            </a:extLst>
          </p:cNvPr>
          <p:cNvSpPr>
            <a:spLocks noGrp="1"/>
          </p:cNvSpPr>
          <p:nvPr/>
        </p:nvSpPr>
        <p:spPr>
          <a:xfrm>
            <a:off x="762000" y="3771900"/>
            <a:ext cx="76200" cy="6667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C87DB1-D3C8-412E-BCD5-EBD246F65ABF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Business Workload Plane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DD6A16-4C75-41E0-8EC5-789A1E161730}"/>
              </a:ext>
            </a:extLst>
          </p:cNvPr>
          <p:cNvSpPr>
            <a:spLocks noGrp="1"/>
          </p:cNvSpPr>
          <p:nvPr/>
        </p:nvSpPr>
        <p:spPr>
          <a:xfrm>
            <a:off x="3790950" y="390525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F46E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F46E5"/>
                </a:solidFill>
                <a:latin typeface="Avenir Next"/>
                <a:ea typeface="Avenir Next"/>
                <a:cs typeface="Avenir Next"/>
              </a:rPr>
              <a:t>codocs / aims / altoc / finance / assets / insights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47D308-3CFC-456D-89AD-A9C2AF5C9D9F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文档、研发、经营、财务、资产、代码效能等业务对象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A03230-0D81-42BF-8D21-4496C6FA923E}"/>
              </a:ext>
            </a:extLst>
          </p:cNvPr>
          <p:cNvSpPr>
            <a:spLocks noGrp="1"/>
          </p:cNvSpPr>
          <p:nvPr/>
        </p:nvSpPr>
        <p:spPr>
          <a:xfrm>
            <a:off x="5791200" y="4457700"/>
            <a:ext cx="19050" cy="114300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6421F2-42A5-4BBA-B3FE-D07188C74D12}"/>
              </a:ext>
            </a:extLst>
          </p:cNvPr>
          <p:cNvSpPr>
            <a:spLocks noGrp="1"/>
          </p:cNvSpPr>
          <p:nvPr/>
        </p:nvSpPr>
        <p:spPr>
          <a:xfrm>
            <a:off x="5753100" y="4572000"/>
            <a:ext cx="95250" cy="95250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23AFA7-FD3F-4532-8557-64BB44A46CFB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10096500" cy="666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7C67BC-53AA-4B98-AE15-4C01FE3D878B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76200" cy="6667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9D63657-DC74-46CC-9E40-13F5A0AEE703}"/>
              </a:ext>
            </a:extLst>
          </p:cNvPr>
          <p:cNvSpPr>
            <a:spLocks noGrp="1"/>
          </p:cNvSpPr>
          <p:nvPr/>
        </p:nvSpPr>
        <p:spPr>
          <a:xfrm>
            <a:off x="1028700" y="48006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E71DC9-CB59-4051-B122-2C6B98B92ED8}"/>
              </a:ext>
            </a:extLst>
          </p:cNvPr>
          <p:cNvSpPr>
            <a:spLocks noGrp="1"/>
          </p:cNvSpPr>
          <p:nvPr/>
        </p:nvSpPr>
        <p:spPr>
          <a:xfrm>
            <a:off x="3790950" y="48006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4530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45309"/>
                </a:solidFill>
                <a:latin typeface="Avenir Next"/>
                <a:ea typeface="Avenir Next"/>
                <a:cs typeface="Avenir Next"/>
              </a:rPr>
              <a:t>MySQL / Redis / OSS / Git / Agent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A347F9-7515-48C2-90E1-493E295B190B}"/>
              </a:ext>
            </a:extLst>
          </p:cNvPr>
          <p:cNvSpPr>
            <a:spLocks noGrp="1"/>
          </p:cNvSpPr>
          <p:nvPr/>
        </p:nvSpPr>
        <p:spPr>
          <a:xfrm>
            <a:off x="6667500" y="480060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每应用独立数据库；客户侧数据面；Agent 暴露业务 API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CE90054-9BF9-4349-986C-0441908D3ADE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关键约束：Platform 不进业务请求热路径；Console 不承载业务主数据；业务应用不自建平台级 IAM；Data Runtime Agent 不是 SQL 代理。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030C987-AEC4-43B2-90B6-EA74F441DE34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B0869FC-0768-4B7E-9A71-8F62EB884D3B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978C344-00D8-45B1-BE4F-AFE8A07DE7CB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553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A34699C0-E44B-4471-ABAE-6555959C9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9890CBE-1B75-480B-99A6-43C8C53D9791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0D347F2-504F-455B-AC66-E05DD0A33CE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PLATFORM COMPOSITION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7F8981-0315-48B7-BE11-77131C0DCD76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模块不是按页面归类，而是按职责和事实源归类。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0F44B5-1C38-42C5-A9B8-53C37DF93549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09550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52C012-3DD2-4621-8661-6F8A76DE00BC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47625" cy="1485900"/>
          </a:xfrm>
          <a:prstGeom prst="rect">
            <a:avLst/>
          </a:prstGeom>
          <a:solidFill>
            <a:srgbClr val="0F17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E6C086-62D7-49AE-9BE3-A6D7FC0A2717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平台治理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E8D6-653A-4428-BD16-1F37CE31808B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1752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platform</a:t>
            </a:r>
          </a:p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租户 / 订阅 / 应用 / 部署 / License / 策略包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447C8F-4324-4F18-AD56-932345863890}"/>
              </a:ext>
            </a:extLst>
          </p:cNvPr>
          <p:cNvSpPr>
            <a:spLocks noGrp="1"/>
          </p:cNvSpPr>
          <p:nvPr/>
        </p:nvSpPr>
        <p:spPr>
          <a:xfrm>
            <a:off x="2914650" y="1790700"/>
            <a:ext cx="209550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BF831E-26CE-43C8-AED9-616C8BB5F313}"/>
              </a:ext>
            </a:extLst>
          </p:cNvPr>
          <p:cNvSpPr>
            <a:spLocks noGrp="1"/>
          </p:cNvSpPr>
          <p:nvPr/>
        </p:nvSpPr>
        <p:spPr>
          <a:xfrm>
            <a:off x="2914650" y="1790700"/>
            <a:ext cx="47625" cy="14859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2A5605-B27A-4644-9E97-B42A18A80C62}"/>
              </a:ext>
            </a:extLst>
          </p:cNvPr>
          <p:cNvSpPr>
            <a:spLocks noGrp="1"/>
          </p:cNvSpPr>
          <p:nvPr/>
        </p:nvSpPr>
        <p:spPr>
          <a:xfrm>
            <a:off x="3105150" y="1962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客户侧运行时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8CBBD4-7F81-4E6A-9E3C-C99C3A7175E1}"/>
              </a:ext>
            </a:extLst>
          </p:cNvPr>
          <p:cNvSpPr>
            <a:spLocks noGrp="1"/>
          </p:cNvSpPr>
          <p:nvPr/>
        </p:nvSpPr>
        <p:spPr>
          <a:xfrm>
            <a:off x="3105150" y="2305050"/>
            <a:ext cx="1752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console</a:t>
            </a:r>
          </a:p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企业配置 / 目录 / 认证 / vault / 员工入口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1680B0-12BA-464B-B156-39E7E0A73562}"/>
              </a:ext>
            </a:extLst>
          </p:cNvPr>
          <p:cNvSpPr>
            <a:spLocks noGrp="1"/>
          </p:cNvSpPr>
          <p:nvPr/>
        </p:nvSpPr>
        <p:spPr>
          <a:xfrm>
            <a:off x="5295900" y="1790700"/>
            <a:ext cx="209550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22C69D-D52B-4079-8592-DC3E4E222C90}"/>
              </a:ext>
            </a:extLst>
          </p:cNvPr>
          <p:cNvSpPr>
            <a:spLocks noGrp="1"/>
          </p:cNvSpPr>
          <p:nvPr/>
        </p:nvSpPr>
        <p:spPr>
          <a:xfrm>
            <a:off x="5295900" y="1790700"/>
            <a:ext cx="47625" cy="14859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9DE0ED-577E-4B8A-89D7-AD2A942C98F9}"/>
              </a:ext>
            </a:extLst>
          </p:cNvPr>
          <p:cNvSpPr>
            <a:spLocks noGrp="1"/>
          </p:cNvSpPr>
          <p:nvPr/>
        </p:nvSpPr>
        <p:spPr>
          <a:xfrm>
            <a:off x="5486400" y="1962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共享实现层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B7268F-76F6-45FC-95A7-8549D5BF6BA0}"/>
              </a:ext>
            </a:extLst>
          </p:cNvPr>
          <p:cNvSpPr>
            <a:spLocks noGrp="1"/>
          </p:cNvSpPr>
          <p:nvPr/>
        </p:nvSpPr>
        <p:spPr>
          <a:xfrm>
            <a:off x="5486400" y="2305050"/>
            <a:ext cx="1752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foundation</a:t>
            </a:r>
          </a:p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认证 / 目录 / 审批 / 布局 / 集成 adapter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7F8CBA-6541-432C-AFE4-1BAD00838A7A}"/>
              </a:ext>
            </a:extLst>
          </p:cNvPr>
          <p:cNvSpPr>
            <a:spLocks noGrp="1"/>
          </p:cNvSpPr>
          <p:nvPr/>
        </p:nvSpPr>
        <p:spPr>
          <a:xfrm>
            <a:off x="7677150" y="1790700"/>
            <a:ext cx="209550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BAA762-CFDB-48F0-AD77-F0B60613913C}"/>
              </a:ext>
            </a:extLst>
          </p:cNvPr>
          <p:cNvSpPr>
            <a:spLocks noGrp="1"/>
          </p:cNvSpPr>
          <p:nvPr/>
        </p:nvSpPr>
        <p:spPr>
          <a:xfrm>
            <a:off x="7677150" y="1790700"/>
            <a:ext cx="47625" cy="14859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B9F66F-57E1-404C-955E-7E33C56FF85A}"/>
              </a:ext>
            </a:extLst>
          </p:cNvPr>
          <p:cNvSpPr>
            <a:spLocks noGrp="1"/>
          </p:cNvSpPr>
          <p:nvPr/>
        </p:nvSpPr>
        <p:spPr>
          <a:xfrm>
            <a:off x="7867650" y="196215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平台服务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D3E70B-C03B-4D6B-A5AD-4E2EDCA91498}"/>
              </a:ext>
            </a:extLst>
          </p:cNvPr>
          <p:cNvSpPr>
            <a:spLocks noGrp="1"/>
          </p:cNvSpPr>
          <p:nvPr/>
        </p:nvSpPr>
        <p:spPr>
          <a:xfrm>
            <a:off x="7867650" y="2305050"/>
            <a:ext cx="1752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workflow / collab</a:t>
            </a:r>
          </a:p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审批运行时 / 实时协作运行时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D9BBEE-0411-4AA1-A3B8-ECEF6603B8D4}"/>
              </a:ext>
            </a:extLst>
          </p:cNvPr>
          <p:cNvSpPr>
            <a:spLocks noGrp="1"/>
          </p:cNvSpPr>
          <p:nvPr/>
        </p:nvSpPr>
        <p:spPr>
          <a:xfrm>
            <a:off x="10058400" y="1790700"/>
            <a:ext cx="160020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EAD505-62E8-4CB1-B56C-C9CF3BBB9183}"/>
              </a:ext>
            </a:extLst>
          </p:cNvPr>
          <p:cNvSpPr>
            <a:spLocks noGrp="1"/>
          </p:cNvSpPr>
          <p:nvPr/>
        </p:nvSpPr>
        <p:spPr>
          <a:xfrm>
            <a:off x="10058400" y="1790700"/>
            <a:ext cx="47625" cy="14859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145E77-A68D-4125-82CD-6E3CBE1548DF}"/>
              </a:ext>
            </a:extLst>
          </p:cNvPr>
          <p:cNvSpPr>
            <a:spLocks noGrp="1"/>
          </p:cNvSpPr>
          <p:nvPr/>
        </p:nvSpPr>
        <p:spPr>
          <a:xfrm>
            <a:off x="10248900" y="196215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迁移期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B78027-F698-44E5-9DE1-B5AE97EBE620}"/>
              </a:ext>
            </a:extLst>
          </p:cNvPr>
          <p:cNvSpPr>
            <a:spLocks noGrp="1"/>
          </p:cNvSpPr>
          <p:nvPr/>
        </p:nvSpPr>
        <p:spPr>
          <a:xfrm>
            <a:off x="10248900" y="2305050"/>
            <a:ext cx="1257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account</a:t>
            </a:r>
          </a:p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当前目录事实源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A088D1-FBCB-4A5A-B4A2-8FDED667E9A2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20955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51DE63-FA57-41D9-A2BE-73153831A02A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57150" cy="457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564DD8-6505-4809-BDA2-AE58F1C7BC38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Codocs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5AE960-B11C-4DBA-A77B-D041F559C404}"/>
              </a:ext>
            </a:extLst>
          </p:cNvPr>
          <p:cNvSpPr>
            <a:spLocks noGrp="1"/>
          </p:cNvSpPr>
          <p:nvPr/>
        </p:nvSpPr>
        <p:spPr>
          <a:xfrm>
            <a:off x="1828800" y="42386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协作文档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EB491AB-9111-45C0-AD91-6A5A2BB50E61}"/>
              </a:ext>
            </a:extLst>
          </p:cNvPr>
          <p:cNvSpPr>
            <a:spLocks noGrp="1"/>
          </p:cNvSpPr>
          <p:nvPr/>
        </p:nvSpPr>
        <p:spPr>
          <a:xfrm>
            <a:off x="3448050" y="4133850"/>
            <a:ext cx="20955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9CEB9F-834D-4631-9287-0CAF5167BACD}"/>
              </a:ext>
            </a:extLst>
          </p:cNvPr>
          <p:cNvSpPr>
            <a:spLocks noGrp="1"/>
          </p:cNvSpPr>
          <p:nvPr/>
        </p:nvSpPr>
        <p:spPr>
          <a:xfrm>
            <a:off x="3448050" y="4133850"/>
            <a:ext cx="57150" cy="457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4767A7-DED5-4F91-8FC9-0879ED085E29}"/>
              </a:ext>
            </a:extLst>
          </p:cNvPr>
          <p:cNvSpPr>
            <a:spLocks noGrp="1"/>
          </p:cNvSpPr>
          <p:nvPr/>
        </p:nvSpPr>
        <p:spPr>
          <a:xfrm>
            <a:off x="3619500" y="42291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Aims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9299BC3-1F94-4200-AB18-4289DD9CD55B}"/>
              </a:ext>
            </a:extLst>
          </p:cNvPr>
          <p:cNvSpPr>
            <a:spLocks noGrp="1"/>
          </p:cNvSpPr>
          <p:nvPr/>
        </p:nvSpPr>
        <p:spPr>
          <a:xfrm>
            <a:off x="4400550" y="42386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研发项目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6DD8903-C5E5-4613-81C3-3A915700227F}"/>
              </a:ext>
            </a:extLst>
          </p:cNvPr>
          <p:cNvSpPr>
            <a:spLocks noGrp="1"/>
          </p:cNvSpPr>
          <p:nvPr/>
        </p:nvSpPr>
        <p:spPr>
          <a:xfrm>
            <a:off x="6019800" y="4133850"/>
            <a:ext cx="20955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3FF943-0469-4A16-9D8F-917D9E2B2260}"/>
              </a:ext>
            </a:extLst>
          </p:cNvPr>
          <p:cNvSpPr>
            <a:spLocks noGrp="1"/>
          </p:cNvSpPr>
          <p:nvPr/>
        </p:nvSpPr>
        <p:spPr>
          <a:xfrm>
            <a:off x="6019800" y="4133850"/>
            <a:ext cx="57150" cy="457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AB0C65-EC74-4139-92BF-73BB8F92AF61}"/>
              </a:ext>
            </a:extLst>
          </p:cNvPr>
          <p:cNvSpPr>
            <a:spLocks noGrp="1"/>
          </p:cNvSpPr>
          <p:nvPr/>
        </p:nvSpPr>
        <p:spPr>
          <a:xfrm>
            <a:off x="6191250" y="42291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Altoc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587A34B-9BE2-49B2-A023-AC4B66F1AD7A}"/>
              </a:ext>
            </a:extLst>
          </p:cNvPr>
          <p:cNvSpPr>
            <a:spLocks noGrp="1"/>
          </p:cNvSpPr>
          <p:nvPr/>
        </p:nvSpPr>
        <p:spPr>
          <a:xfrm>
            <a:off x="6972300" y="42386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经营 LTC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D62EE3-4DD7-4AAF-9A31-F8781F59A80F}"/>
              </a:ext>
            </a:extLst>
          </p:cNvPr>
          <p:cNvSpPr>
            <a:spLocks noGrp="1"/>
          </p:cNvSpPr>
          <p:nvPr/>
        </p:nvSpPr>
        <p:spPr>
          <a:xfrm>
            <a:off x="8591550" y="4133850"/>
            <a:ext cx="20955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3EE1E1-7FA4-4293-B5E3-309715E0B61E}"/>
              </a:ext>
            </a:extLst>
          </p:cNvPr>
          <p:cNvSpPr>
            <a:spLocks noGrp="1"/>
          </p:cNvSpPr>
          <p:nvPr/>
        </p:nvSpPr>
        <p:spPr>
          <a:xfrm>
            <a:off x="8591550" y="4133850"/>
            <a:ext cx="57150" cy="457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3982136-4D04-4E05-A740-690F585E7502}"/>
              </a:ext>
            </a:extLst>
          </p:cNvPr>
          <p:cNvSpPr>
            <a:spLocks noGrp="1"/>
          </p:cNvSpPr>
          <p:nvPr/>
        </p:nvSpPr>
        <p:spPr>
          <a:xfrm>
            <a:off x="8763000" y="42291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Finance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DE1363E-1286-496E-ACF4-C8667A370382}"/>
              </a:ext>
            </a:extLst>
          </p:cNvPr>
          <p:cNvSpPr>
            <a:spLocks noGrp="1"/>
          </p:cNvSpPr>
          <p:nvPr/>
        </p:nvSpPr>
        <p:spPr>
          <a:xfrm>
            <a:off x="9544050" y="42386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经营财务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BDF0B73-22F3-4552-A2FC-F4D586C270D9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20955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19E1B1-C0AA-4947-8E50-8CCD884E53B0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57150" cy="4572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39D39AA-03F0-4EE0-9AEB-4A5A09626602}"/>
              </a:ext>
            </a:extLst>
          </p:cNvPr>
          <p:cNvSpPr>
            <a:spLocks noGrp="1"/>
          </p:cNvSpPr>
          <p:nvPr/>
        </p:nvSpPr>
        <p:spPr>
          <a:xfrm>
            <a:off x="1047750" y="49339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Assets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29470CF-00C4-48F0-8A50-DCFA2D0B20A8}"/>
              </a:ext>
            </a:extLst>
          </p:cNvPr>
          <p:cNvSpPr>
            <a:spLocks noGrp="1"/>
          </p:cNvSpPr>
          <p:nvPr/>
        </p:nvSpPr>
        <p:spPr>
          <a:xfrm>
            <a:off x="1828800" y="49434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资产资源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FE5CFA-327E-401B-BADA-AFD155E130C8}"/>
              </a:ext>
            </a:extLst>
          </p:cNvPr>
          <p:cNvSpPr>
            <a:spLocks noGrp="1"/>
          </p:cNvSpPr>
          <p:nvPr/>
        </p:nvSpPr>
        <p:spPr>
          <a:xfrm>
            <a:off x="3448050" y="4838700"/>
            <a:ext cx="20955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5FDB908-16F5-4175-A8D3-CAA2E62067C8}"/>
              </a:ext>
            </a:extLst>
          </p:cNvPr>
          <p:cNvSpPr>
            <a:spLocks noGrp="1"/>
          </p:cNvSpPr>
          <p:nvPr/>
        </p:nvSpPr>
        <p:spPr>
          <a:xfrm>
            <a:off x="3448050" y="4838700"/>
            <a:ext cx="57150" cy="45720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44F1FE8-7C0B-46D4-8710-993DD0299C77}"/>
              </a:ext>
            </a:extLst>
          </p:cNvPr>
          <p:cNvSpPr>
            <a:spLocks noGrp="1"/>
          </p:cNvSpPr>
          <p:nvPr/>
        </p:nvSpPr>
        <p:spPr>
          <a:xfrm>
            <a:off x="3619500" y="49339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Insights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434D08E-F0B0-4005-8D93-808E10052683}"/>
              </a:ext>
            </a:extLst>
          </p:cNvPr>
          <p:cNvSpPr>
            <a:spLocks noGrp="1"/>
          </p:cNvSpPr>
          <p:nvPr/>
        </p:nvSpPr>
        <p:spPr>
          <a:xfrm>
            <a:off x="4400550" y="49434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代码效能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D5D3832-178A-466F-8823-F59B9F164C10}"/>
              </a:ext>
            </a:extLst>
          </p:cNvPr>
          <p:cNvSpPr>
            <a:spLocks noGrp="1"/>
          </p:cNvSpPr>
          <p:nvPr/>
        </p:nvSpPr>
        <p:spPr>
          <a:xfrm>
            <a:off x="6019800" y="4838700"/>
            <a:ext cx="20955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757E5C9-579E-47D7-A56C-64E5DBC63E71}"/>
              </a:ext>
            </a:extLst>
          </p:cNvPr>
          <p:cNvSpPr>
            <a:spLocks noGrp="1"/>
          </p:cNvSpPr>
          <p:nvPr/>
        </p:nvSpPr>
        <p:spPr>
          <a:xfrm>
            <a:off x="6019800" y="4838700"/>
            <a:ext cx="57150" cy="457200"/>
          </a:xfrm>
          <a:prstGeom prst="rect">
            <a:avLst/>
          </a:prstGeom>
          <a:solidFill>
            <a:srgbClr val="6474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6C17949-A660-4048-87DE-537F3807F464}"/>
              </a:ext>
            </a:extLst>
          </p:cNvPr>
          <p:cNvSpPr>
            <a:spLocks noGrp="1"/>
          </p:cNvSpPr>
          <p:nvPr/>
        </p:nvSpPr>
        <p:spPr>
          <a:xfrm>
            <a:off x="6191250" y="49339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Align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2E36FBC-001B-4D1E-8569-AAA8FC0C301B}"/>
              </a:ext>
            </a:extLst>
          </p:cNvPr>
          <p:cNvSpPr>
            <a:spLocks noGrp="1"/>
          </p:cNvSpPr>
          <p:nvPr/>
        </p:nvSpPr>
        <p:spPr>
          <a:xfrm>
            <a:off x="6972300" y="49434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深度协同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FDF2107-DBAF-4BB2-95E8-1535440FFFCD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4336291-9A66-486A-AE31-03A7756EB3F1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8C98888-5331-40E5-9975-3EBF14C5DE11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8110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40A86682-02E1-4A5C-8767-6D21FCBD7A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294CF4E-FA3F-4298-9256-76F5061199A9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DC833C8-753E-494D-BF44-7275DA5FF3B9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CURRENT VS TARGET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822D92-4745-4280-9CD7-EE187105300D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当前架构是过渡态：可用业务模块和目标平台运行时正在并行收敛。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D0D808-A234-4187-9DD3-3F3D4DFA312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762500" cy="34290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803F90-BA36-450A-BB71-7A333317BDC8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762500" cy="34290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688D0B-3BD2-40E9-8A07-53DAEB8555B2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当前现状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A4116E-17AC-4134-BC18-9B25DE94217E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目标形态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F705F5-7C31-46A2-AC4C-B537366F1412}"/>
              </a:ext>
            </a:extLst>
          </p:cNvPr>
          <p:cNvSpPr>
            <a:spLocks noGrp="1"/>
          </p:cNvSpPr>
          <p:nvPr/>
        </p:nvSpPr>
        <p:spPr>
          <a:xfrm>
            <a:off x="1028700" y="2647950"/>
            <a:ext cx="762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70674D-16D7-4734-90E0-428248D61C2E}"/>
              </a:ext>
            </a:extLst>
          </p:cNvPr>
          <p:cNvSpPr>
            <a:spLocks noGrp="1"/>
          </p:cNvSpPr>
          <p:nvPr/>
        </p:nvSpPr>
        <p:spPr>
          <a:xfrm>
            <a:off x="1219200" y="25812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多模块独立 Nuxt/Nitro 服务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C4CB7D-2773-48C7-BB95-A78BFBE15B12}"/>
              </a:ext>
            </a:extLst>
          </p:cNvPr>
          <p:cNvSpPr>
            <a:spLocks noGrp="1"/>
          </p:cNvSpPr>
          <p:nvPr/>
        </p:nvSpPr>
        <p:spPr>
          <a:xfrm>
            <a:off x="1028700" y="3019425"/>
            <a:ext cx="762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D8DF4C-5E65-4F14-9BA5-690C33D5C48F}"/>
              </a:ext>
            </a:extLst>
          </p:cNvPr>
          <p:cNvSpPr>
            <a:spLocks noGrp="1"/>
          </p:cNvSpPr>
          <p:nvPr/>
        </p:nvSpPr>
        <p:spPr>
          <a:xfrm>
            <a:off x="1219200" y="295275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每模块独立数据库与端口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4AD1DE-1ACC-46AF-92EC-FA9354C16143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762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D678D2-AADF-4CD2-9A1B-E41F4D35DD91}"/>
              </a:ext>
            </a:extLst>
          </p:cNvPr>
          <p:cNvSpPr>
            <a:spLocks noGrp="1"/>
          </p:cNvSpPr>
          <p:nvPr/>
        </p:nvSpPr>
        <p:spPr>
          <a:xfrm>
            <a:off x="1219200" y="33242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Account 承接目录与部分身份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362387-1A2B-4971-BD73-C1C18CBAC915}"/>
              </a:ext>
            </a:extLst>
          </p:cNvPr>
          <p:cNvSpPr>
            <a:spLocks noGrp="1"/>
          </p:cNvSpPr>
          <p:nvPr/>
        </p:nvSpPr>
        <p:spPr>
          <a:xfrm>
            <a:off x="1028700" y="3762375"/>
            <a:ext cx="762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4E5805-3573-4BD9-B2C1-5355BAA1821F}"/>
              </a:ext>
            </a:extLst>
          </p:cNvPr>
          <p:cNvSpPr>
            <a:spLocks noGrp="1"/>
          </p:cNvSpPr>
          <p:nvPr/>
        </p:nvSpPr>
        <p:spPr>
          <a:xfrm>
            <a:off x="1219200" y="36957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Workflow 独立承接审批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799B03-93A6-40D4-8052-C0CAF7D4D29B}"/>
              </a:ext>
            </a:extLst>
          </p:cNvPr>
          <p:cNvSpPr>
            <a:spLocks noGrp="1"/>
          </p:cNvSpPr>
          <p:nvPr/>
        </p:nvSpPr>
        <p:spPr>
          <a:xfrm>
            <a:off x="1028700" y="4133850"/>
            <a:ext cx="762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99FACD3-F254-4EA8-9B25-FC48BAFFB851}"/>
              </a:ext>
            </a:extLst>
          </p:cNvPr>
          <p:cNvSpPr>
            <a:spLocks noGrp="1"/>
          </p:cNvSpPr>
          <p:nvPr/>
        </p:nvSpPr>
        <p:spPr>
          <a:xfrm>
            <a:off x="1219200" y="40671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业务 env 仍有迁移期配置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EFF44A-3257-458F-B87A-0B3A81ACB20F}"/>
              </a:ext>
            </a:extLst>
          </p:cNvPr>
          <p:cNvSpPr>
            <a:spLocks noGrp="1"/>
          </p:cNvSpPr>
          <p:nvPr/>
        </p:nvSpPr>
        <p:spPr>
          <a:xfrm>
            <a:off x="1028700" y="4505325"/>
            <a:ext cx="762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3779B5-740F-47C9-BB0D-F8A06DB9B69B}"/>
              </a:ext>
            </a:extLst>
          </p:cNvPr>
          <p:cNvSpPr>
            <a:spLocks noGrp="1"/>
          </p:cNvSpPr>
          <p:nvPr/>
        </p:nvSpPr>
        <p:spPr>
          <a:xfrm>
            <a:off x="1219200" y="443865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Console 正在建设为运行时底座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D39008-2A14-4EDE-8313-B4309F188DB9}"/>
              </a:ext>
            </a:extLst>
          </p:cNvPr>
          <p:cNvSpPr>
            <a:spLocks noGrp="1"/>
          </p:cNvSpPr>
          <p:nvPr/>
        </p:nvSpPr>
        <p:spPr>
          <a:xfrm>
            <a:off x="7105650" y="26479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2CB4CFA-F152-4F6F-9293-F6C808DD3F74}"/>
              </a:ext>
            </a:extLst>
          </p:cNvPr>
          <p:cNvSpPr>
            <a:spLocks noGrp="1"/>
          </p:cNvSpPr>
          <p:nvPr/>
        </p:nvSpPr>
        <p:spPr>
          <a:xfrm>
            <a:off x="7296150" y="25812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Platform 治理租户、应用、部署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47E9657-D1D1-4050-A635-5BA7C448FDC6}"/>
              </a:ext>
            </a:extLst>
          </p:cNvPr>
          <p:cNvSpPr>
            <a:spLocks noGrp="1"/>
          </p:cNvSpPr>
          <p:nvPr/>
        </p:nvSpPr>
        <p:spPr>
          <a:xfrm>
            <a:off x="7105650" y="30194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AC1223-F915-4E0D-80D1-63BB93468B22}"/>
              </a:ext>
            </a:extLst>
          </p:cNvPr>
          <p:cNvSpPr>
            <a:spLocks noGrp="1"/>
          </p:cNvSpPr>
          <p:nvPr/>
        </p:nvSpPr>
        <p:spPr>
          <a:xfrm>
            <a:off x="7296150" y="295275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Console 承接目录、认证、vault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CCBCBD-C2E3-46B0-AF7F-A7FA57C6C170}"/>
              </a:ext>
            </a:extLst>
          </p:cNvPr>
          <p:cNvSpPr>
            <a:spLocks noGrp="1"/>
          </p:cNvSpPr>
          <p:nvPr/>
        </p:nvSpPr>
        <p:spPr>
          <a:xfrm>
            <a:off x="7105650" y="33909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E8DD3AD-DB3E-47C8-B0B8-2452D2547E2E}"/>
              </a:ext>
            </a:extLst>
          </p:cNvPr>
          <p:cNvSpPr>
            <a:spLocks noGrp="1"/>
          </p:cNvSpPr>
          <p:nvPr/>
        </p:nvSpPr>
        <p:spPr>
          <a:xfrm>
            <a:off x="7296150" y="33242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业务应用消费 Console OIDC/JWT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53089E-3AE8-4D52-8AED-6ECE9DF37812}"/>
              </a:ext>
            </a:extLst>
          </p:cNvPr>
          <p:cNvSpPr>
            <a:spLocks noGrp="1"/>
          </p:cNvSpPr>
          <p:nvPr/>
        </p:nvSpPr>
        <p:spPr>
          <a:xfrm>
            <a:off x="7105650" y="37623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698A30-0461-4912-AB8B-006298079F92}"/>
              </a:ext>
            </a:extLst>
          </p:cNvPr>
          <p:cNvSpPr>
            <a:spLocks noGrp="1"/>
          </p:cNvSpPr>
          <p:nvPr/>
        </p:nvSpPr>
        <p:spPr>
          <a:xfrm>
            <a:off x="7296150" y="36957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跨模块服务调用使用 service token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80F348-1831-455F-B89A-0B7065D0D0D7}"/>
              </a:ext>
            </a:extLst>
          </p:cNvPr>
          <p:cNvSpPr>
            <a:spLocks noGrp="1"/>
          </p:cNvSpPr>
          <p:nvPr/>
        </p:nvSpPr>
        <p:spPr>
          <a:xfrm>
            <a:off x="7105650" y="41338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BDB65EC-D61C-4DC1-9FEF-A0DD31A305F7}"/>
              </a:ext>
            </a:extLst>
          </p:cNvPr>
          <p:cNvSpPr>
            <a:spLocks noGrp="1"/>
          </p:cNvSpPr>
          <p:nvPr/>
        </p:nvSpPr>
        <p:spPr>
          <a:xfrm>
            <a:off x="7296150" y="40671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统一域名 + path 挂载应用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1D9C85-84F8-413E-9051-2B8FA9E58AD8}"/>
              </a:ext>
            </a:extLst>
          </p:cNvPr>
          <p:cNvSpPr>
            <a:spLocks noGrp="1"/>
          </p:cNvSpPr>
          <p:nvPr/>
        </p:nvSpPr>
        <p:spPr>
          <a:xfrm>
            <a:off x="7105650" y="45053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973841-CEE0-4001-947C-3A8DF3B2DB1D}"/>
              </a:ext>
            </a:extLst>
          </p:cNvPr>
          <p:cNvSpPr>
            <a:spLocks noGrp="1"/>
          </p:cNvSpPr>
          <p:nvPr/>
        </p:nvSpPr>
        <p:spPr>
          <a:xfrm>
            <a:off x="7296150" y="443865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默认 Cloudflare + Data Runtime Agent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1946757-1F62-4800-AF18-9CD58691D58C}"/>
              </a:ext>
            </a:extLst>
          </p:cNvPr>
          <p:cNvSpPr>
            <a:spLocks noGrp="1"/>
          </p:cNvSpPr>
          <p:nvPr/>
        </p:nvSpPr>
        <p:spPr>
          <a:xfrm>
            <a:off x="5657850" y="3562350"/>
            <a:ext cx="78105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1314E7-EA10-4AA4-9D95-4B3C6FE1A004}"/>
              </a:ext>
            </a:extLst>
          </p:cNvPr>
          <p:cNvSpPr>
            <a:spLocks noGrp="1"/>
          </p:cNvSpPr>
          <p:nvPr/>
        </p:nvSpPr>
        <p:spPr>
          <a:xfrm>
            <a:off x="6438900" y="3524250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657E83-28DF-456A-9E96-EB93B9EC1F38}"/>
              </a:ext>
            </a:extLst>
          </p:cNvPr>
          <p:cNvSpPr>
            <a:spLocks noGrp="1"/>
          </p:cNvSpPr>
          <p:nvPr/>
        </p:nvSpPr>
        <p:spPr>
          <a:xfrm>
            <a:off x="1790700" y="571500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迁移原则：先把新平台和新接入层跑通，再逐步让业务模块切换事实源和认证链路。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A546D1C-584C-4462-BA25-676812F5CC79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651DA46-171A-4915-997C-616050B82966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599F04-F423-48C7-80A3-BBFDDB59EAD0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554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2452E38A-7E24-45FD-B36F-1D180E78BB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3998346-98AF-473B-8489-C2D4BE8297BB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E05904E-977A-473F-85F5-899334D8A310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ARCHITECTURE RULES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59CE1F-2FDA-4627-B377-BE91057B6F26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 dirty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会影响系统长期可维护性的红线</a:t>
            </a:r>
            <a:endParaRPr sz="2775" b="1" dirty="0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AB72CB-230C-4ACB-8600-5CA44342777A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6E0F6E-FCD0-44C5-A790-DB2ECEF958B6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DE73EF-5C4E-4A85-8F1F-2DCEE84AD942}"/>
              </a:ext>
            </a:extLst>
          </p:cNvPr>
          <p:cNvSpPr>
            <a:spLocks noGrp="1"/>
          </p:cNvSpPr>
          <p:nvPr/>
        </p:nvSpPr>
        <p:spPr>
          <a:xfrm>
            <a:off x="1371600" y="1905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禁止跨库直连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59B0B8-0B96-481F-9E98-F03EC68AEF6B}"/>
              </a:ext>
            </a:extLst>
          </p:cNvPr>
          <p:cNvSpPr>
            <a:spLocks noGrp="1"/>
          </p:cNvSpPr>
          <p:nvPr/>
        </p:nvSpPr>
        <p:spPr>
          <a:xfrm>
            <a:off x="2857500" y="1914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跨模块只走 API、代理、回调或 Agent 业务 API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BD9AB9-119B-4290-B577-0F77CA2F4F38}"/>
              </a:ext>
            </a:extLst>
          </p:cNvPr>
          <p:cNvSpPr>
            <a:spLocks noGrp="1"/>
          </p:cNvSpPr>
          <p:nvPr/>
        </p:nvSpPr>
        <p:spPr>
          <a:xfrm>
            <a:off x="5953125" y="179070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14833E-96C6-43F6-AAEA-2F7E0AD64ABE}"/>
              </a:ext>
            </a:extLst>
          </p:cNvPr>
          <p:cNvSpPr>
            <a:spLocks noGrp="1"/>
          </p:cNvSpPr>
          <p:nvPr/>
        </p:nvSpPr>
        <p:spPr>
          <a:xfrm>
            <a:off x="6124575" y="19431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F46E5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CBBA72-F110-444C-AE38-3239FAB12A90}"/>
              </a:ext>
            </a:extLst>
          </p:cNvPr>
          <p:cNvSpPr>
            <a:spLocks noGrp="1"/>
          </p:cNvSpPr>
          <p:nvPr/>
        </p:nvSpPr>
        <p:spPr>
          <a:xfrm>
            <a:off x="6657975" y="1905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单一事实源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A1279F-3E6D-4C4E-8148-AD750DCEEE8A}"/>
              </a:ext>
            </a:extLst>
          </p:cNvPr>
          <p:cNvSpPr>
            <a:spLocks noGrp="1"/>
          </p:cNvSpPr>
          <p:nvPr/>
        </p:nvSpPr>
        <p:spPr>
          <a:xfrm>
            <a:off x="8143875" y="19145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不要复制其他模块主档变成第二事实源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23F059-9C37-4A9A-99F4-79524E0396DC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C929AB-F045-49F0-A458-03C43D265269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B265D1-94BB-4D69-8CAA-0BB563500D66}"/>
              </a:ext>
            </a:extLst>
          </p:cNvPr>
          <p:cNvSpPr>
            <a:spLocks noGrp="1"/>
          </p:cNvSpPr>
          <p:nvPr/>
        </p:nvSpPr>
        <p:spPr>
          <a:xfrm>
            <a:off x="1371600" y="28003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稳定业务键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7E82EE-822C-40A6-9F4F-0D9C226449B7}"/>
              </a:ext>
            </a:extLst>
          </p:cNvPr>
          <p:cNvSpPr>
            <a:spLocks noGrp="1"/>
          </p:cNvSpPr>
          <p:nvPr/>
        </p:nvSpPr>
        <p:spPr>
          <a:xfrm>
            <a:off x="2857500" y="2809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跨模块引用 uid / dept_code / project_code / uuid / biz_id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FBB485-630A-4E85-BEAF-06E8D5BEFCA1}"/>
              </a:ext>
            </a:extLst>
          </p:cNvPr>
          <p:cNvSpPr>
            <a:spLocks noGrp="1"/>
          </p:cNvSpPr>
          <p:nvPr/>
        </p:nvSpPr>
        <p:spPr>
          <a:xfrm>
            <a:off x="5953125" y="268605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1EE809-3890-4D50-8AF3-CE8BB36ACAFB}"/>
              </a:ext>
            </a:extLst>
          </p:cNvPr>
          <p:cNvSpPr>
            <a:spLocks noGrp="1"/>
          </p:cNvSpPr>
          <p:nvPr/>
        </p:nvSpPr>
        <p:spPr>
          <a:xfrm>
            <a:off x="6124575" y="28384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F46E5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317421-54C9-49F4-8254-6686B3A4DF62}"/>
              </a:ext>
            </a:extLst>
          </p:cNvPr>
          <p:cNvSpPr>
            <a:spLocks noGrp="1"/>
          </p:cNvSpPr>
          <p:nvPr/>
        </p:nvSpPr>
        <p:spPr>
          <a:xfrm>
            <a:off x="6657975" y="28003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Foundation 优先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BA11AF-0F32-43B9-B489-195FEAE99D6F}"/>
              </a:ext>
            </a:extLst>
          </p:cNvPr>
          <p:cNvSpPr>
            <a:spLocks noGrp="1"/>
          </p:cNvSpPr>
          <p:nvPr/>
        </p:nvSpPr>
        <p:spPr>
          <a:xfrm>
            <a:off x="8143875" y="2809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共享认证、目录、审批、布局和集成能力先复用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3C48DF-E3DC-442F-A85B-6191986C8CBF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525F9C-F065-4354-A0CD-CB483C63FB1A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5D55AC-8AD3-4917-A9E6-33834906C946}"/>
              </a:ext>
            </a:extLst>
          </p:cNvPr>
          <p:cNvSpPr>
            <a:spLocks noGrp="1"/>
          </p:cNvSpPr>
          <p:nvPr/>
        </p:nvSpPr>
        <p:spPr>
          <a:xfrm>
            <a:off x="1371600" y="3695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Console 发 token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B19703-216D-4791-87B7-3395FDA18E0B}"/>
              </a:ext>
            </a:extLst>
          </p:cNvPr>
          <p:cNvSpPr>
            <a:spLocks noGrp="1"/>
          </p:cNvSpPr>
          <p:nvPr/>
        </p:nvSpPr>
        <p:spPr>
          <a:xfrm>
            <a:off x="2857500" y="37052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服务端调用和回调用短期 service JWT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CE6153-7679-46CF-ABAC-6527716E855D}"/>
              </a:ext>
            </a:extLst>
          </p:cNvPr>
          <p:cNvSpPr>
            <a:spLocks noGrp="1"/>
          </p:cNvSpPr>
          <p:nvPr/>
        </p:nvSpPr>
        <p:spPr>
          <a:xfrm>
            <a:off x="5953125" y="358140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AD169E-0C1A-48F3-B4C0-5C7123A28A52}"/>
              </a:ext>
            </a:extLst>
          </p:cNvPr>
          <p:cNvSpPr>
            <a:spLocks noGrp="1"/>
          </p:cNvSpPr>
          <p:nvPr/>
        </p:nvSpPr>
        <p:spPr>
          <a:xfrm>
            <a:off x="6124575" y="37338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F46E5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E926FBD-A32A-4EC6-8EE2-8F285C809B01}"/>
              </a:ext>
            </a:extLst>
          </p:cNvPr>
          <p:cNvSpPr>
            <a:spLocks noGrp="1"/>
          </p:cNvSpPr>
          <p:nvPr/>
        </p:nvSpPr>
        <p:spPr>
          <a:xfrm>
            <a:off x="6657975" y="3695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Secret 进 vault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44C3A8-8242-40F3-BD61-A2D8D8CE7BB1}"/>
              </a:ext>
            </a:extLst>
          </p:cNvPr>
          <p:cNvSpPr>
            <a:spLocks noGrp="1"/>
          </p:cNvSpPr>
          <p:nvPr/>
        </p:nvSpPr>
        <p:spPr>
          <a:xfrm>
            <a:off x="8143875" y="37052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GitLab/OSS/AI/通知等凭证不要散落在业务 env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95A46F-E894-4CB7-89FC-C47664A06636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C724EF-4D6A-41FA-8B5F-0498A8750E87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B73CD1-617C-400B-AA70-9ACC3D0D1A8A}"/>
              </a:ext>
            </a:extLst>
          </p:cNvPr>
          <p:cNvSpPr>
            <a:spLocks noGrp="1"/>
          </p:cNvSpPr>
          <p:nvPr/>
        </p:nvSpPr>
        <p:spPr>
          <a:xfrm>
            <a:off x="1371600" y="45910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Account 不扩张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4C6D03E-5871-4785-93A0-981A663C00BD}"/>
              </a:ext>
            </a:extLst>
          </p:cNvPr>
          <p:cNvSpPr>
            <a:spLocks noGrp="1"/>
          </p:cNvSpPr>
          <p:nvPr/>
        </p:nvSpPr>
        <p:spPr>
          <a:xfrm>
            <a:off x="2857500" y="46005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新增目录能力优先进入 Console directory-runtime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08B256E-CE20-4764-B6E1-277B95541046}"/>
              </a:ext>
            </a:extLst>
          </p:cNvPr>
          <p:cNvSpPr>
            <a:spLocks noGrp="1"/>
          </p:cNvSpPr>
          <p:nvPr/>
        </p:nvSpPr>
        <p:spPr>
          <a:xfrm>
            <a:off x="5953125" y="4476750"/>
            <a:ext cx="4667250" cy="609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A2DC83E-25D7-4D89-88B7-7C2239DD4597}"/>
              </a:ext>
            </a:extLst>
          </p:cNvPr>
          <p:cNvSpPr>
            <a:spLocks noGrp="1"/>
          </p:cNvSpPr>
          <p:nvPr/>
        </p:nvSpPr>
        <p:spPr>
          <a:xfrm>
            <a:off x="6124575" y="46291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F46E5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E10F34D-EA5A-41FB-B055-321B276E7C93}"/>
              </a:ext>
            </a:extLst>
          </p:cNvPr>
          <p:cNvSpPr>
            <a:spLocks noGrp="1"/>
          </p:cNvSpPr>
          <p:nvPr/>
        </p:nvSpPr>
        <p:spPr>
          <a:xfrm>
            <a:off x="6657975" y="45910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Platform 不热路径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B12BD32-6311-49BB-B209-CED3D713A862}"/>
              </a:ext>
            </a:extLst>
          </p:cNvPr>
          <p:cNvSpPr>
            <a:spLocks noGrp="1"/>
          </p:cNvSpPr>
          <p:nvPr/>
        </p:nvSpPr>
        <p:spPr>
          <a:xfrm>
            <a:off x="8143875" y="46005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Platform 做治理、签名、发布和审计，不处理每个业务请求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FD2980B-C505-44AE-8C42-AC446601B760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9747F8-1ECD-4504-BB54-533456920666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0D3FC3-605F-4092-AC65-4EFBC0EC53F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762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6F06613E-047C-4581-8326-5F78420453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31EBAF8-FCB2-4862-B06B-42363730189B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7B90568-AD5F-4040-B7CF-5C6EE315410E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MODULE CONTRACTS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A3FFD2-1CF8-42E5-8FA9-F4A53F58EAEA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跨模块契约的核心是：业务键引用 + API 集成 + Console service token。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B4CCDD-4AE8-4519-B4FA-ACF4D24AD2B3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1695450" cy="81915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969169-4BB2-43BB-969B-94C7B844DC35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业务模块 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54BC7-C89B-4AE4-BBA4-A60D45FD835D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Aims / Altoc / Finance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8A090-FEAD-408A-BDA2-0C06A03F9FFC}"/>
              </a:ext>
            </a:extLst>
          </p:cNvPr>
          <p:cNvSpPr>
            <a:spLocks noGrp="1"/>
          </p:cNvSpPr>
          <p:nvPr/>
        </p:nvSpPr>
        <p:spPr>
          <a:xfrm>
            <a:off x="3581400" y="2247900"/>
            <a:ext cx="1885950" cy="81915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BA3D00-43A5-4B05-ACF6-3EF260497862}"/>
              </a:ext>
            </a:extLst>
          </p:cNvPr>
          <p:cNvSpPr>
            <a:spLocks noGrp="1"/>
          </p:cNvSpPr>
          <p:nvPr/>
        </p:nvSpPr>
        <p:spPr>
          <a:xfrm>
            <a:off x="3733800" y="24003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Foundation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D7012E-8180-4B6B-BB67-3B1FBD5635ED}"/>
              </a:ext>
            </a:extLst>
          </p:cNvPr>
          <p:cNvSpPr>
            <a:spLocks noGrp="1"/>
          </p:cNvSpPr>
          <p:nvPr/>
        </p:nvSpPr>
        <p:spPr>
          <a:xfrm>
            <a:off x="3733800" y="2657475"/>
            <a:ext cx="1581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runtime config</a:t>
            </a:r>
          </a:p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service token helper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80C2D1-CAB2-41F4-ADF9-911A2892762E}"/>
              </a:ext>
            </a:extLst>
          </p:cNvPr>
          <p:cNvSpPr>
            <a:spLocks noGrp="1"/>
          </p:cNvSpPr>
          <p:nvPr/>
        </p:nvSpPr>
        <p:spPr>
          <a:xfrm>
            <a:off x="6629400" y="2247900"/>
            <a:ext cx="1885950" cy="8191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3B10D7-0918-4CC5-8644-0D5E823351C1}"/>
              </a:ext>
            </a:extLst>
          </p:cNvPr>
          <p:cNvSpPr>
            <a:spLocks noGrp="1"/>
          </p:cNvSpPr>
          <p:nvPr/>
        </p:nvSpPr>
        <p:spPr>
          <a:xfrm>
            <a:off x="6781800" y="24003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Console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E01227-5A13-4626-94BA-D18EC7B512D4}"/>
              </a:ext>
            </a:extLst>
          </p:cNvPr>
          <p:cNvSpPr>
            <a:spLocks noGrp="1"/>
          </p:cNvSpPr>
          <p:nvPr/>
        </p:nvSpPr>
        <p:spPr>
          <a:xfrm>
            <a:off x="6781800" y="2657475"/>
            <a:ext cx="1581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JWKS / service JWT</a:t>
            </a:r>
          </a:p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Directory / Vault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A3833A-2D26-4306-96DF-9F44AF9B984A}"/>
              </a:ext>
            </a:extLst>
          </p:cNvPr>
          <p:cNvSpPr>
            <a:spLocks noGrp="1"/>
          </p:cNvSpPr>
          <p:nvPr/>
        </p:nvSpPr>
        <p:spPr>
          <a:xfrm>
            <a:off x="9620250" y="2247900"/>
            <a:ext cx="1695450" cy="81915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3DDDDC-C84F-4626-9043-E6CD2C1B2042}"/>
              </a:ext>
            </a:extLst>
          </p:cNvPr>
          <p:cNvSpPr>
            <a:spLocks noGrp="1"/>
          </p:cNvSpPr>
          <p:nvPr/>
        </p:nvSpPr>
        <p:spPr>
          <a:xfrm>
            <a:off x="9772650" y="2400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业务模块 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B9E212-C574-49F9-B40C-84E10336239F}"/>
              </a:ext>
            </a:extLst>
          </p:cNvPr>
          <p:cNvSpPr>
            <a:spLocks noGrp="1"/>
          </p:cNvSpPr>
          <p:nvPr/>
        </p:nvSpPr>
        <p:spPr>
          <a:xfrm>
            <a:off x="9772650" y="2657475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Codocs / Workflow / Altoc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4E5404-5887-421B-9B90-C50D9D4F1F57}"/>
              </a:ext>
            </a:extLst>
          </p:cNvPr>
          <p:cNvSpPr>
            <a:spLocks noGrp="1"/>
          </p:cNvSpPr>
          <p:nvPr/>
        </p:nvSpPr>
        <p:spPr>
          <a:xfrm>
            <a:off x="2571750" y="2647950"/>
            <a:ext cx="800100" cy="190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944CAF-6421-4F87-ADC0-AA94792AA3EE}"/>
              </a:ext>
            </a:extLst>
          </p:cNvPr>
          <p:cNvSpPr>
            <a:spLocks noGrp="1"/>
          </p:cNvSpPr>
          <p:nvPr/>
        </p:nvSpPr>
        <p:spPr>
          <a:xfrm>
            <a:off x="3371850" y="2609850"/>
            <a:ext cx="95250" cy="95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3FE1AE-5F8C-4F5B-A531-A2725C4BE1F8}"/>
              </a:ext>
            </a:extLst>
          </p:cNvPr>
          <p:cNvSpPr>
            <a:spLocks noGrp="1"/>
          </p:cNvSpPr>
          <p:nvPr/>
        </p:nvSpPr>
        <p:spPr>
          <a:xfrm>
            <a:off x="5581650" y="2647950"/>
            <a:ext cx="8382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5CB008-F9C3-4E3E-9460-E65736CCC6CB}"/>
              </a:ext>
            </a:extLst>
          </p:cNvPr>
          <p:cNvSpPr>
            <a:spLocks noGrp="1"/>
          </p:cNvSpPr>
          <p:nvPr/>
        </p:nvSpPr>
        <p:spPr>
          <a:xfrm>
            <a:off x="6419850" y="260985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139B68-A530-4890-BAFB-2564913220A2}"/>
              </a:ext>
            </a:extLst>
          </p:cNvPr>
          <p:cNvSpPr>
            <a:spLocks noGrp="1"/>
          </p:cNvSpPr>
          <p:nvPr/>
        </p:nvSpPr>
        <p:spPr>
          <a:xfrm>
            <a:off x="8629650" y="2647950"/>
            <a:ext cx="80010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3BFB44-473E-4D91-A60F-3DD391525DB1}"/>
              </a:ext>
            </a:extLst>
          </p:cNvPr>
          <p:cNvSpPr>
            <a:spLocks noGrp="1"/>
          </p:cNvSpPr>
          <p:nvPr/>
        </p:nvSpPr>
        <p:spPr>
          <a:xfrm>
            <a:off x="9429750" y="2609850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7560FA-5E16-42D1-B407-73545F24D0B8}"/>
              </a:ext>
            </a:extLst>
          </p:cNvPr>
          <p:cNvSpPr>
            <a:spLocks noGrp="1"/>
          </p:cNvSpPr>
          <p:nvPr/>
        </p:nvSpPr>
        <p:spPr>
          <a:xfrm>
            <a:off x="3333750" y="3238500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requestServiceAccessToken({ audience, scope })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745E20-D1E0-4C3D-A6EB-F7F866A597E0}"/>
              </a:ext>
            </a:extLst>
          </p:cNvPr>
          <p:cNvSpPr>
            <a:spLocks noGrp="1"/>
          </p:cNvSpPr>
          <p:nvPr/>
        </p:nvSpPr>
        <p:spPr>
          <a:xfrm>
            <a:off x="800100" y="4048125"/>
            <a:ext cx="8724900" cy="34290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A526EC-0434-46CF-ACD5-23DC9DA41113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契约项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1BDD90-C600-4E82-B332-1F9CD13D3E4B}"/>
              </a:ext>
            </a:extLst>
          </p:cNvPr>
          <p:cNvSpPr>
            <a:spLocks noGrp="1"/>
          </p:cNvSpPr>
          <p:nvPr/>
        </p:nvSpPr>
        <p:spPr>
          <a:xfrm>
            <a:off x="2400300" y="41243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稳定标识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5D695A-8332-4D8A-B64F-28ED6FF8AD08}"/>
              </a:ext>
            </a:extLst>
          </p:cNvPr>
          <p:cNvSpPr>
            <a:spLocks noGrp="1"/>
          </p:cNvSpPr>
          <p:nvPr/>
        </p:nvSpPr>
        <p:spPr>
          <a:xfrm>
            <a:off x="4114800" y="4124325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事实源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A4BF32-3BD7-47BA-8A06-F5102868D56A}"/>
              </a:ext>
            </a:extLst>
          </p:cNvPr>
          <p:cNvSpPr>
            <a:spLocks noGrp="1"/>
          </p:cNvSpPr>
          <p:nvPr/>
        </p:nvSpPr>
        <p:spPr>
          <a:xfrm>
            <a:off x="6305550" y="4124325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使用方式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B99CC0-1C80-471E-8EAD-973A3E54DEE1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 / 部门 / 项目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EABF6C-A13C-4461-92AD-D515E07C39D1}"/>
              </a:ext>
            </a:extLst>
          </p:cNvPr>
          <p:cNvSpPr>
            <a:spLocks noGrp="1"/>
          </p:cNvSpPr>
          <p:nvPr/>
        </p:nvSpPr>
        <p:spPr>
          <a:xfrm>
            <a:off x="2400300" y="44767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uid / dept_code / project_code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636722-2A6A-4436-8038-13EEBECF37F9}"/>
              </a:ext>
            </a:extLst>
          </p:cNvPr>
          <p:cNvSpPr>
            <a:spLocks noGrp="1"/>
          </p:cNvSpPr>
          <p:nvPr/>
        </p:nvSpPr>
        <p:spPr>
          <a:xfrm>
            <a:off x="4114800" y="447675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Account 迁移期；Console 目标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9DD0B1-D56E-4449-8686-82FAA26B90FD}"/>
              </a:ext>
            </a:extLst>
          </p:cNvPr>
          <p:cNvSpPr>
            <a:spLocks noGrp="1"/>
          </p:cNvSpPr>
          <p:nvPr/>
        </p:nvSpPr>
        <p:spPr>
          <a:xfrm>
            <a:off x="6305550" y="44767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通过 Directory API / Foundation adapter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1DC12A-B5A7-4019-8EAD-85123329DD23}"/>
              </a:ext>
            </a:extLst>
          </p:cNvPr>
          <p:cNvSpPr>
            <a:spLocks noGrp="1"/>
          </p:cNvSpPr>
          <p:nvPr/>
        </p:nvSpPr>
        <p:spPr>
          <a:xfrm>
            <a:off x="800100" y="4781550"/>
            <a:ext cx="8724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86E447-9893-4E47-BCFB-BFBE4A148837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9D60E8-743F-4865-80F3-9028799476D8}"/>
              </a:ext>
            </a:extLst>
          </p:cNvPr>
          <p:cNvSpPr>
            <a:spLocks noGrp="1"/>
          </p:cNvSpPr>
          <p:nvPr/>
        </p:nvSpPr>
        <p:spPr>
          <a:xfrm>
            <a:off x="2400300" y="48387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uuid / document_id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1712643-978C-4C68-A052-F61F0AF249EE}"/>
              </a:ext>
            </a:extLst>
          </p:cNvPr>
          <p:cNvSpPr>
            <a:spLocks noGrp="1"/>
          </p:cNvSpPr>
          <p:nvPr/>
        </p:nvSpPr>
        <p:spPr>
          <a:xfrm>
            <a:off x="4114800" y="483870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Codocs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2AE071D-6227-4DB2-93E0-21EF0866AB25}"/>
              </a:ext>
            </a:extLst>
          </p:cNvPr>
          <p:cNvSpPr>
            <a:spLocks noGrp="1"/>
          </p:cNvSpPr>
          <p:nvPr/>
        </p:nvSpPr>
        <p:spPr>
          <a:xfrm>
            <a:off x="6305550" y="48387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API 创建、引用或 iframe 编辑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DD59CA6-3C23-433D-BBAE-5F048EB1FAB9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8724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93CEC55-4A2B-46B3-8E1C-D7E2DD2D8277}"/>
              </a:ext>
            </a:extLst>
          </p:cNvPr>
          <p:cNvSpPr>
            <a:spLocks noGrp="1"/>
          </p:cNvSpPr>
          <p:nvPr/>
        </p:nvSpPr>
        <p:spPr>
          <a:xfrm>
            <a:off x="876300" y="520065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3600154-3503-4333-9A0A-EAA99700C2AE}"/>
              </a:ext>
            </a:extLst>
          </p:cNvPr>
          <p:cNvSpPr>
            <a:spLocks noGrp="1"/>
          </p:cNvSpPr>
          <p:nvPr/>
        </p:nvSpPr>
        <p:spPr>
          <a:xfrm>
            <a:off x="2400300" y="52006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instance_id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38E7967-5108-460A-A29A-FB37E0E60AE3}"/>
              </a:ext>
            </a:extLst>
          </p:cNvPr>
          <p:cNvSpPr>
            <a:spLocks noGrp="1"/>
          </p:cNvSpPr>
          <p:nvPr/>
        </p:nvSpPr>
        <p:spPr>
          <a:xfrm>
            <a:off x="4114800" y="520065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Workflow 迁移期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55B1641-83AC-49E4-A93B-7CCDF2C65198}"/>
              </a:ext>
            </a:extLst>
          </p:cNvPr>
          <p:cNvSpPr>
            <a:spLocks noGrp="1"/>
          </p:cNvSpPr>
          <p:nvPr/>
        </p:nvSpPr>
        <p:spPr>
          <a:xfrm>
            <a:off x="6305550" y="52006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Foundation proxy 发起；service token 回调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C9D1AD2-5D9F-49C1-A628-87E54A066157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8724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686850B-1C0B-4D52-95B6-73C3E8FA68FB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业务对象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E85367-9308-419B-BD78-F956EA5CBE41}"/>
              </a:ext>
            </a:extLst>
          </p:cNvPr>
          <p:cNvSpPr>
            <a:spLocks noGrp="1"/>
          </p:cNvSpPr>
          <p:nvPr/>
        </p:nvSpPr>
        <p:spPr>
          <a:xfrm>
            <a:off x="2400300" y="55626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code / biz_id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3F9FFAF-BFCA-4F4B-8758-3000E320F0F2}"/>
              </a:ext>
            </a:extLst>
          </p:cNvPr>
          <p:cNvSpPr>
            <a:spLocks noGrp="1"/>
          </p:cNvSpPr>
          <p:nvPr/>
        </p:nvSpPr>
        <p:spPr>
          <a:xfrm>
            <a:off x="4114800" y="556260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各业务模块自身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9EBA1ED-41A7-4486-9CE7-FD8D61AB0517}"/>
              </a:ext>
            </a:extLst>
          </p:cNvPr>
          <p:cNvSpPr>
            <a:spLocks noGrp="1"/>
          </p:cNvSpPr>
          <p:nvPr/>
        </p:nvSpPr>
        <p:spPr>
          <a:xfrm>
            <a:off x="6305550" y="55626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只保存引用键，不复制主档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5A5400E-D9D5-4301-812C-3F633627179D}"/>
              </a:ext>
            </a:extLst>
          </p:cNvPr>
          <p:cNvSpPr>
            <a:spLocks noGrp="1"/>
          </p:cNvSpPr>
          <p:nvPr/>
        </p:nvSpPr>
        <p:spPr>
          <a:xfrm>
            <a:off x="800100" y="5867400"/>
            <a:ext cx="8724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76167D5-966F-4101-BED7-0FB6A26FC64A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D67F892-B940-42EF-A4C2-8759CC5BCDAC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来源：docs/MODULE_CONTRACTS.md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A326E57-2BFC-47E6-9170-833E965527C2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140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6AE9D91-2C5B-4491-910C-63724994BC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382051C-EAD4-4F05-B12A-159516771169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1A47404-711D-4352-BF3A-79EC3F35D911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PLATFORM / CONSOLE BOUNDARY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00D72C-8555-4927-BD9E-0CF3A8DE46AB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Platform 管平台治理，Console 管企业内部运行；这条边界不能混。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ECE682-13C6-4ACF-B00F-EF8430A4C3C8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4572000" cy="314325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4F102F-11CC-4070-9922-39A62E932F25}"/>
              </a:ext>
            </a:extLst>
          </p:cNvPr>
          <p:cNvSpPr>
            <a:spLocks noGrp="1"/>
          </p:cNvSpPr>
          <p:nvPr/>
        </p:nvSpPr>
        <p:spPr>
          <a:xfrm>
            <a:off x="6743700" y="1866900"/>
            <a:ext cx="4572000" cy="31432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71AF46-998E-42DD-ADC8-12EE9902E152}"/>
              </a:ext>
            </a:extLst>
          </p:cNvPr>
          <p:cNvSpPr>
            <a:spLocks noGrp="1"/>
          </p:cNvSpPr>
          <p:nvPr/>
        </p:nvSpPr>
        <p:spPr>
          <a:xfrm>
            <a:off x="1219200" y="21907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3AAB0D-E78A-41F5-B922-6D8EB8510382}"/>
              </a:ext>
            </a:extLst>
          </p:cNvPr>
          <p:cNvSpPr>
            <a:spLocks noGrp="1"/>
          </p:cNvSpPr>
          <p:nvPr/>
        </p:nvSpPr>
        <p:spPr>
          <a:xfrm>
            <a:off x="7086600" y="21907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Console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31C796-94B6-45AD-921C-5EC7C6B6303C}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3429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租户、订阅、能力包</a:t>
            </a:r>
          </a:p>
          <a:p>
            <a:pPr algn="l">
              <a:def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应用注册、manifest、release</a:t>
            </a:r>
          </a:p>
          <a:p>
            <a:pPr algn="l">
              <a:def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部署站点、runtime token、heartbeat</a:t>
            </a:r>
          </a:p>
          <a:p>
            <a:pPr algn="l">
              <a:def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License、policy bundle、revocation</a:t>
            </a:r>
          </a:p>
          <a:p>
            <a:pPr algn="l">
              <a:def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平台 admin / 租户 dashboard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D8F76F-4FAC-4008-83D8-63C0CAFE311D}"/>
              </a:ext>
            </a:extLst>
          </p:cNvPr>
          <p:cNvSpPr>
            <a:spLocks noGrp="1"/>
          </p:cNvSpPr>
          <p:nvPr/>
        </p:nvSpPr>
        <p:spPr>
          <a:xfrm>
            <a:off x="7086600" y="2781300"/>
            <a:ext cx="3524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企业资料、系统参数、字典</a:t>
            </a:r>
          </a:p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Directory / Auth runtime</a:t>
            </a:r>
          </a:p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Credential vault / integration config</a:t>
            </a:r>
          </a:p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员工入口、应用中心、轻量待办</a:t>
            </a:r>
          </a:p>
          <a:p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本地 service client 与短期 token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8F6967-D222-4C77-A43D-7CC1EFBDBDA2}"/>
              </a:ext>
            </a:extLst>
          </p:cNvPr>
          <p:cNvSpPr>
            <a:spLocks noGrp="1"/>
          </p:cNvSpPr>
          <p:nvPr/>
        </p:nvSpPr>
        <p:spPr>
          <a:xfrm>
            <a:off x="5619750" y="3390900"/>
            <a:ext cx="85725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8221E1-2964-453B-BBF8-A81C75E8D021}"/>
              </a:ext>
            </a:extLst>
          </p:cNvPr>
          <p:cNvSpPr>
            <a:spLocks noGrp="1"/>
          </p:cNvSpPr>
          <p:nvPr/>
        </p:nvSpPr>
        <p:spPr>
          <a:xfrm>
            <a:off x="6477000" y="3352800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4CA7F-0E03-4724-9FD9-334A6A3EF5C1}"/>
              </a:ext>
            </a:extLst>
          </p:cNvPr>
          <p:cNvSpPr>
            <a:spLocks noGrp="1"/>
          </p:cNvSpPr>
          <p:nvPr/>
        </p:nvSpPr>
        <p:spPr>
          <a:xfrm>
            <a:off x="5581650" y="367665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license / bundle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B23BF2-0FCC-4CC9-B770-47D74CE606DA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952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经验法则：如果问题是“客户买了什么、部署在哪里、应用有没有授权”，看 Platform；如果问题是“企业员工如何登录、目录和凭证在哪里”，看 Console。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D7BF08-244F-4FB9-A27D-0991294CF6D5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9754B4-3D3E-48FB-9FD0-7FF8E77F96E8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799407-4699-4B76-BEA8-E19C686A59BE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354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10F99AC-7D7D-47DF-A26B-E0B9B4102A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6A3666B-4F86-4454-BEED-75BF61BE6F7C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13427B6-A924-4CF8-BA2C-763DE469A223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FOUNDATION ROLE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9B4EC2-35B1-46D7-8CA1-AB90A50226F5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Foundation 是企业端应用的共享实现层，不是新的业务模块。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A35486-9E27-4264-9855-C42E1773A639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990850" cy="895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7C1E23-A5E0-4A93-86AF-24B8556F34C8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认证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9D9A97-CE6C-4359-9AC0-8E1532CCD91A}"/>
              </a:ext>
            </a:extLst>
          </p:cNvPr>
          <p:cNvSpPr>
            <a:spLocks noGrp="1"/>
          </p:cNvSpPr>
          <p:nvPr/>
        </p:nvSpPr>
        <p:spPr>
          <a:xfrm>
            <a:off x="1676400" y="2200275"/>
            <a:ext cx="1771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Console OIDC 登录、callback、refresh、logout、/api/auth/me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27380F-A6B3-4755-AE8D-DD848197903D}"/>
              </a:ext>
            </a:extLst>
          </p:cNvPr>
          <p:cNvSpPr>
            <a:spLocks noGrp="1"/>
          </p:cNvSpPr>
          <p:nvPr/>
        </p:nvSpPr>
        <p:spPr>
          <a:xfrm>
            <a:off x="4362450" y="2038350"/>
            <a:ext cx="2990850" cy="895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7FFC0F-3FEB-4933-B7A9-9F26E82A7DE6}"/>
              </a:ext>
            </a:extLst>
          </p:cNvPr>
          <p:cNvSpPr>
            <a:spLocks noGrp="1"/>
          </p:cNvSpPr>
          <p:nvPr/>
        </p:nvSpPr>
        <p:spPr>
          <a:xfrm>
            <a:off x="4533900" y="22098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228155-1334-401C-9FA8-2DBDEA945F01}"/>
              </a:ext>
            </a:extLst>
          </p:cNvPr>
          <p:cNvSpPr>
            <a:spLocks noGrp="1"/>
          </p:cNvSpPr>
          <p:nvPr/>
        </p:nvSpPr>
        <p:spPr>
          <a:xfrm>
            <a:off x="5295900" y="2200275"/>
            <a:ext cx="1771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useDirectory、/api/directory/**、legacy useAccount 兼容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2EEBD0-FFAD-43A2-9C8B-A64EA47A7759}"/>
              </a:ext>
            </a:extLst>
          </p:cNvPr>
          <p:cNvSpPr>
            <a:spLocks noGrp="1"/>
          </p:cNvSpPr>
          <p:nvPr/>
        </p:nvSpPr>
        <p:spPr>
          <a:xfrm>
            <a:off x="7981950" y="2038350"/>
            <a:ext cx="2990850" cy="895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58719D-30C9-425E-A1C1-312DE5653161}"/>
              </a:ext>
            </a:extLst>
          </p:cNvPr>
          <p:cNvSpPr>
            <a:spLocks noGrp="1"/>
          </p:cNvSpPr>
          <p:nvPr/>
        </p:nvSpPr>
        <p:spPr>
          <a:xfrm>
            <a:off x="8153400" y="22098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审批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AF381C-FA88-4A6B-A2DD-72F96031DA10}"/>
              </a:ext>
            </a:extLst>
          </p:cNvPr>
          <p:cNvSpPr>
            <a:spLocks noGrp="1"/>
          </p:cNvSpPr>
          <p:nvPr/>
        </p:nvSpPr>
        <p:spPr>
          <a:xfrm>
            <a:off x="8915400" y="2200275"/>
            <a:ext cx="1771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useWorkflow、/api/workflow-proxy/**、WorkflowPanel、Timeline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D2F2BD-841F-4339-816E-1D17FA3CC09F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990850" cy="895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09B1E5-EAE4-44EF-BB59-23ED11BD52DC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运行时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1A1227-5017-46BB-A234-97960F5B5179}"/>
              </a:ext>
            </a:extLst>
          </p:cNvPr>
          <p:cNvSpPr>
            <a:spLocks noGrp="1"/>
          </p:cNvSpPr>
          <p:nvPr/>
        </p:nvSpPr>
        <p:spPr>
          <a:xfrm>
            <a:off x="1676400" y="3533775"/>
            <a:ext cx="1771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consoleRuntime、serviceOidc、appUrls、RUM、heartbeat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A61A37-6081-43AF-BA13-E8793149C0A3}"/>
              </a:ext>
            </a:extLst>
          </p:cNvPr>
          <p:cNvSpPr>
            <a:spLocks noGrp="1"/>
          </p:cNvSpPr>
          <p:nvPr/>
        </p:nvSpPr>
        <p:spPr>
          <a:xfrm>
            <a:off x="4362450" y="3371850"/>
            <a:ext cx="2990850" cy="895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08B1B6-A2D8-4E4C-8065-FD127CE16598}"/>
              </a:ext>
            </a:extLst>
          </p:cNvPr>
          <p:cNvSpPr>
            <a:spLocks noGrp="1"/>
          </p:cNvSpPr>
          <p:nvPr/>
        </p:nvSpPr>
        <p:spPr>
          <a:xfrm>
            <a:off x="4533900" y="35433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集成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672AE0-2AA1-4FD0-8D48-6933858A076F}"/>
              </a:ext>
            </a:extLst>
          </p:cNvPr>
          <p:cNvSpPr>
            <a:spLocks noGrp="1"/>
          </p:cNvSpPr>
          <p:nvPr/>
        </p:nvSpPr>
        <p:spPr>
          <a:xfrm>
            <a:off x="5295900" y="3533775"/>
            <a:ext cx="1771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GitLab / OSS / AI / 企业微信等 integration adapter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49E1D0-D3BA-4C71-973C-D4C582694880}"/>
              </a:ext>
            </a:extLst>
          </p:cNvPr>
          <p:cNvSpPr>
            <a:spLocks noGrp="1"/>
          </p:cNvSpPr>
          <p:nvPr/>
        </p:nvSpPr>
        <p:spPr>
          <a:xfrm>
            <a:off x="7981950" y="3371850"/>
            <a:ext cx="2990850" cy="8953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EF29F9-063C-45D9-8E46-E69BDB39BCF1}"/>
              </a:ext>
            </a:extLst>
          </p:cNvPr>
          <p:cNvSpPr>
            <a:spLocks noGrp="1"/>
          </p:cNvSpPr>
          <p:nvPr/>
        </p:nvSpPr>
        <p:spPr>
          <a:xfrm>
            <a:off x="8153400" y="35433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UI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5489D1-A39B-43C8-BA9F-63694FB3A495}"/>
              </a:ext>
            </a:extLst>
          </p:cNvPr>
          <p:cNvSpPr>
            <a:spLocks noGrp="1"/>
          </p:cNvSpPr>
          <p:nvPr/>
        </p:nvSpPr>
        <p:spPr>
          <a:xfrm>
            <a:off x="8915400" y="3533775"/>
            <a:ext cx="1771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LayoutSidebar、AppLauncher、UserMenu、DeptTreeSelector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8FF199-7CD3-43DA-839F-B46C0315B90A}"/>
              </a:ext>
            </a:extLst>
          </p:cNvPr>
          <p:cNvSpPr>
            <a:spLocks noGrp="1"/>
          </p:cNvSpPr>
          <p:nvPr/>
        </p:nvSpPr>
        <p:spPr>
          <a:xfrm>
            <a:off x="1676400" y="5105400"/>
            <a:ext cx="8096250" cy="495300"/>
          </a:xfrm>
          <a:prstGeom prst="rect">
            <a:avLst/>
          </a:prstGeom>
          <a:solidFill>
            <a:srgbClr val="EFE7D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880C10-7D28-449E-883E-EB114AC93AFD}"/>
              </a:ext>
            </a:extLst>
          </p:cNvPr>
          <p:cNvSpPr>
            <a:spLocks noGrp="1"/>
          </p:cNvSpPr>
          <p:nvPr/>
        </p:nvSpPr>
        <p:spPr>
          <a:xfrm>
            <a:off x="1943100" y="5257800"/>
            <a:ext cx="762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开发习惯：写业务代码前先查 FOUNDATION_CAPABILITIES；通用能力反哺 Foundation，业务模块只保留自身领域逻辑。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707FCF-7AFE-4D5C-8225-7089C2F02ED6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F59921-2E27-4177-ADD8-28D30078732A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919EFF-98D4-4EE5-88DA-E6D0F0218B17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506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5F3AA5CE-A725-4DEE-9DE6-CEC6CB1346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773489C-7149-4819-BED7-0E18FF8BDEC3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B28D886-07BE-4288-889B-C0D1C8C5CF8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BUSINESS CHAIN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84AAC4-56D2-4C52-981A-D50FCA5B4324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业务应用之间的价值来自链路，不来自数据库合并。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3E57AC-2244-494D-B9BC-53BA5F38F4E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1428750" cy="74295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74FB7F-64B4-465E-804E-4FA2FD465841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Altoc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E1C590-E689-43CA-819E-8B18E92CD249}"/>
              </a:ext>
            </a:extLst>
          </p:cNvPr>
          <p:cNvSpPr>
            <a:spLocks noGrp="1"/>
          </p:cNvSpPr>
          <p:nvPr/>
        </p:nvSpPr>
        <p:spPr>
          <a:xfrm>
            <a:off x="857250" y="2981325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客户 / 商机 / 合同 / 回款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9CE72A-EA96-4F80-B0E3-F6EAF7849C98}"/>
              </a:ext>
            </a:extLst>
          </p:cNvPr>
          <p:cNvSpPr>
            <a:spLocks noGrp="1"/>
          </p:cNvSpPr>
          <p:nvPr/>
        </p:nvSpPr>
        <p:spPr>
          <a:xfrm>
            <a:off x="2724150" y="2571750"/>
            <a:ext cx="1428750" cy="74295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130EC6-E54D-447B-A3DD-6591C585AEAB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Aims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4244B7-D3FF-4A42-997E-521323DFD824}"/>
              </a:ext>
            </a:extLst>
          </p:cNvPr>
          <p:cNvSpPr>
            <a:spLocks noGrp="1"/>
          </p:cNvSpPr>
          <p:nvPr/>
        </p:nvSpPr>
        <p:spPr>
          <a:xfrm>
            <a:off x="2876550" y="2981325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PIVR / 里程碑 / 任务 / 工时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08605E-7A25-4F80-9F15-900C17384DD9}"/>
              </a:ext>
            </a:extLst>
          </p:cNvPr>
          <p:cNvSpPr>
            <a:spLocks noGrp="1"/>
          </p:cNvSpPr>
          <p:nvPr/>
        </p:nvSpPr>
        <p:spPr>
          <a:xfrm>
            <a:off x="4743450" y="2571750"/>
            <a:ext cx="1428750" cy="74295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9A4117-751F-4D30-A05A-0D98596C2266}"/>
              </a:ext>
            </a:extLst>
          </p:cNvPr>
          <p:cNvSpPr>
            <a:spLocks noGrp="1"/>
          </p:cNvSpPr>
          <p:nvPr/>
        </p:nvSpPr>
        <p:spPr>
          <a:xfrm>
            <a:off x="4895850" y="272415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Codocs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A21AB9-6910-41DA-AB63-158AF44ED148}"/>
              </a:ext>
            </a:extLst>
          </p:cNvPr>
          <p:cNvSpPr>
            <a:spLocks noGrp="1"/>
          </p:cNvSpPr>
          <p:nvPr/>
        </p:nvSpPr>
        <p:spPr>
          <a:xfrm>
            <a:off x="4895850" y="2981325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文档 / 知识 / 协同编辑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4AD030-9967-4B4D-9BC4-BEDBA6A7A2D0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1428750" cy="742950"/>
          </a:xfrm>
          <a:prstGeom prst="rect">
            <a:avLst/>
          </a:prstGeom>
          <a:solidFill>
            <a:srgbClr val="BE123C"/>
          </a:solidFill>
          <a:ln w="95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5B75D0-F067-42EA-94FF-7A65279565BD}"/>
              </a:ext>
            </a:extLst>
          </p:cNvPr>
          <p:cNvSpPr>
            <a:spLocks noGrp="1"/>
          </p:cNvSpPr>
          <p:nvPr/>
        </p:nvSpPr>
        <p:spPr>
          <a:xfrm>
            <a:off x="6915150" y="272415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Finance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F158B4-3FF3-41CE-9FB8-32E3C7EBDDD4}"/>
              </a:ext>
            </a:extLst>
          </p:cNvPr>
          <p:cNvSpPr>
            <a:spLocks noGrp="1"/>
          </p:cNvSpPr>
          <p:nvPr/>
        </p:nvSpPr>
        <p:spPr>
          <a:xfrm>
            <a:off x="6915150" y="2981325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发票 / 到账 / 核销 / 支出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6DCC06-3613-47B1-A336-FB8A056356BD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1428750" cy="742950"/>
          </a:xfrm>
          <a:prstGeom prst="rect">
            <a:avLst/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868F39-828D-42C1-9C9A-82FD127E1DB4}"/>
              </a:ext>
            </a:extLst>
          </p:cNvPr>
          <p:cNvSpPr>
            <a:spLocks noGrp="1"/>
          </p:cNvSpPr>
          <p:nvPr/>
        </p:nvSpPr>
        <p:spPr>
          <a:xfrm>
            <a:off x="8934450" y="272415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Assets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F769AB-1344-4AC9-825C-D033E2694331}"/>
              </a:ext>
            </a:extLst>
          </p:cNvPr>
          <p:cNvSpPr>
            <a:spLocks noGrp="1"/>
          </p:cNvSpPr>
          <p:nvPr/>
        </p:nvSpPr>
        <p:spPr>
          <a:xfrm>
            <a:off x="8934450" y="2981325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资产 / 资源 / 成本归因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40F898-A1B3-4C18-8056-15B30C6A77FE}"/>
              </a:ext>
            </a:extLst>
          </p:cNvPr>
          <p:cNvSpPr>
            <a:spLocks noGrp="1"/>
          </p:cNvSpPr>
          <p:nvPr/>
        </p:nvSpPr>
        <p:spPr>
          <a:xfrm>
            <a:off x="2209800" y="2933700"/>
            <a:ext cx="34290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F2ACD9-A395-4CD9-B434-B62C3008E5EE}"/>
              </a:ext>
            </a:extLst>
          </p:cNvPr>
          <p:cNvSpPr>
            <a:spLocks noGrp="1"/>
          </p:cNvSpPr>
          <p:nvPr/>
        </p:nvSpPr>
        <p:spPr>
          <a:xfrm>
            <a:off x="2552700" y="2895600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089B1D-A562-4A3B-8F80-9BA62BFC23A5}"/>
              </a:ext>
            </a:extLst>
          </p:cNvPr>
          <p:cNvSpPr>
            <a:spLocks noGrp="1"/>
          </p:cNvSpPr>
          <p:nvPr/>
        </p:nvSpPr>
        <p:spPr>
          <a:xfrm>
            <a:off x="4229100" y="2933700"/>
            <a:ext cx="342900" cy="190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E14E6D-8FE6-4C59-A175-CFC89F1BFB68}"/>
              </a:ext>
            </a:extLst>
          </p:cNvPr>
          <p:cNvSpPr>
            <a:spLocks noGrp="1"/>
          </p:cNvSpPr>
          <p:nvPr/>
        </p:nvSpPr>
        <p:spPr>
          <a:xfrm>
            <a:off x="4572000" y="2895600"/>
            <a:ext cx="95250" cy="95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0586FD-4D41-4EB5-9A2C-62F4E88E102D}"/>
              </a:ext>
            </a:extLst>
          </p:cNvPr>
          <p:cNvSpPr>
            <a:spLocks noGrp="1"/>
          </p:cNvSpPr>
          <p:nvPr/>
        </p:nvSpPr>
        <p:spPr>
          <a:xfrm>
            <a:off x="6248400" y="2933700"/>
            <a:ext cx="3429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68A702-B3B7-4F11-8DF7-8D2D32234E9A}"/>
              </a:ext>
            </a:extLst>
          </p:cNvPr>
          <p:cNvSpPr>
            <a:spLocks noGrp="1"/>
          </p:cNvSpPr>
          <p:nvPr/>
        </p:nvSpPr>
        <p:spPr>
          <a:xfrm>
            <a:off x="6591300" y="289560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7C2B25-F85B-4BBE-949B-04843AAA6663}"/>
              </a:ext>
            </a:extLst>
          </p:cNvPr>
          <p:cNvSpPr>
            <a:spLocks noGrp="1"/>
          </p:cNvSpPr>
          <p:nvPr/>
        </p:nvSpPr>
        <p:spPr>
          <a:xfrm>
            <a:off x="8267700" y="2933700"/>
            <a:ext cx="342900" cy="190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4E593C2-ED00-4C95-9309-95E0BE1DC08B}"/>
              </a:ext>
            </a:extLst>
          </p:cNvPr>
          <p:cNvSpPr>
            <a:spLocks noGrp="1"/>
          </p:cNvSpPr>
          <p:nvPr/>
        </p:nvSpPr>
        <p:spPr>
          <a:xfrm>
            <a:off x="8610600" y="2895600"/>
            <a:ext cx="95250" cy="952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C5DBB2-DB7F-4EB7-BC2D-1B91EAC7E8D5}"/>
              </a:ext>
            </a:extLst>
          </p:cNvPr>
          <p:cNvSpPr>
            <a:spLocks noGrp="1"/>
          </p:cNvSpPr>
          <p:nvPr/>
        </p:nvSpPr>
        <p:spPr>
          <a:xfrm>
            <a:off x="1619250" y="369570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B27CAB-E00A-496D-80EE-3005A12468F9}"/>
              </a:ext>
            </a:extLst>
          </p:cNvPr>
          <p:cNvSpPr>
            <a:spLocks noGrp="1"/>
          </p:cNvSpPr>
          <p:nvPr/>
        </p:nvSpPr>
        <p:spPr>
          <a:xfrm>
            <a:off x="1714500" y="3752850"/>
            <a:ext cx="1028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B4530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45309"/>
                </a:solidFill>
                <a:latin typeface="Avenir Next"/>
                <a:ea typeface="Avenir Next"/>
                <a:cs typeface="Avenir Next"/>
              </a:rPr>
              <a:t>经营 -&gt; 交付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886A93-54B5-479A-821A-EA5D94B3A2B2}"/>
              </a:ext>
            </a:extLst>
          </p:cNvPr>
          <p:cNvSpPr>
            <a:spLocks noGrp="1"/>
          </p:cNvSpPr>
          <p:nvPr/>
        </p:nvSpPr>
        <p:spPr>
          <a:xfrm>
            <a:off x="4229100" y="369570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4CB8A3-2ECA-4983-A5B9-95884CB62E86}"/>
              </a:ext>
            </a:extLst>
          </p:cNvPr>
          <p:cNvSpPr>
            <a:spLocks noGrp="1"/>
          </p:cNvSpPr>
          <p:nvPr/>
        </p:nvSpPr>
        <p:spPr>
          <a:xfrm>
            <a:off x="4324350" y="3752850"/>
            <a:ext cx="933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交付证据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525638-537B-4288-A559-A98AACA3DD08}"/>
              </a:ext>
            </a:extLst>
          </p:cNvPr>
          <p:cNvSpPr>
            <a:spLocks noGrp="1"/>
          </p:cNvSpPr>
          <p:nvPr/>
        </p:nvSpPr>
        <p:spPr>
          <a:xfrm>
            <a:off x="6705600" y="369570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9392804-E5C8-4404-ADC2-EEAD1D9A9D43}"/>
              </a:ext>
            </a:extLst>
          </p:cNvPr>
          <p:cNvSpPr>
            <a:spLocks noGrp="1"/>
          </p:cNvSpPr>
          <p:nvPr/>
        </p:nvSpPr>
        <p:spPr>
          <a:xfrm>
            <a:off x="6800850" y="3752850"/>
            <a:ext cx="933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BE123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E123C"/>
                </a:solidFill>
                <a:latin typeface="Avenir Next"/>
                <a:ea typeface="Avenir Next"/>
                <a:cs typeface="Avenir Next"/>
              </a:rPr>
              <a:t>财务事实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90425BD-1A93-4A3C-A561-CAE3B93B627F}"/>
              </a:ext>
            </a:extLst>
          </p:cNvPr>
          <p:cNvSpPr>
            <a:spLocks noGrp="1"/>
          </p:cNvSpPr>
          <p:nvPr/>
        </p:nvSpPr>
        <p:spPr>
          <a:xfrm>
            <a:off x="8877300" y="369570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8CFE2C7-2786-4048-B3E9-8527D84677F3}"/>
              </a:ext>
            </a:extLst>
          </p:cNvPr>
          <p:cNvSpPr>
            <a:spLocks noGrp="1"/>
          </p:cNvSpPr>
          <p:nvPr/>
        </p:nvSpPr>
        <p:spPr>
          <a:xfrm>
            <a:off x="8972550" y="3752850"/>
            <a:ext cx="933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15803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5803D"/>
                </a:solidFill>
                <a:latin typeface="Avenir Next"/>
                <a:ea typeface="Avenir Next"/>
                <a:cs typeface="Avenir Next"/>
              </a:rPr>
              <a:t>成本视图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41A893-81E4-457D-AC6A-1AAA1FC4A147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201150" cy="30480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28E3130-E2B5-4B42-9B05-963A6F529602}"/>
              </a:ext>
            </a:extLst>
          </p:cNvPr>
          <p:cNvSpPr>
            <a:spLocks noGrp="1"/>
          </p:cNvSpPr>
          <p:nvPr/>
        </p:nvSpPr>
        <p:spPr>
          <a:xfrm>
            <a:off x="1066800" y="4562475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链路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D970FBC-9FD2-4F0B-9D95-91B8D82FED1C}"/>
              </a:ext>
            </a:extLst>
          </p:cNvPr>
          <p:cNvSpPr>
            <a:spLocks noGrp="1"/>
          </p:cNvSpPr>
          <p:nvPr/>
        </p:nvSpPr>
        <p:spPr>
          <a:xfrm>
            <a:off x="2686050" y="456247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桥接键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88F843A-E7A7-4F64-9F7A-0FD9345B6957}"/>
              </a:ext>
            </a:extLst>
          </p:cNvPr>
          <p:cNvSpPr>
            <a:spLocks noGrp="1"/>
          </p:cNvSpPr>
          <p:nvPr/>
        </p:nvSpPr>
        <p:spPr>
          <a:xfrm>
            <a:off x="5067300" y="4562475"/>
            <a:ext cx="2457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事实源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9428C5-8D56-4763-A9F0-4D8345CD5DA3}"/>
              </a:ext>
            </a:extLst>
          </p:cNvPr>
          <p:cNvSpPr>
            <a:spLocks noGrp="1"/>
          </p:cNvSpPr>
          <p:nvPr/>
        </p:nvSpPr>
        <p:spPr>
          <a:xfrm>
            <a:off x="7639050" y="4562475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注意事项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DF06284-67D7-4347-A478-9A3080C7865C}"/>
              </a:ext>
            </a:extLst>
          </p:cNvPr>
          <p:cNvSpPr>
            <a:spLocks noGrp="1"/>
          </p:cNvSpPr>
          <p:nvPr/>
        </p:nvSpPr>
        <p:spPr>
          <a:xfrm>
            <a:off x="1066800" y="487680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Altoc -&gt; Aims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75DBCC8-59E3-4CF9-A596-D185194B5C93}"/>
              </a:ext>
            </a:extLst>
          </p:cNvPr>
          <p:cNvSpPr>
            <a:spLocks noGrp="1"/>
          </p:cNvSpPr>
          <p:nvPr/>
        </p:nvSpPr>
        <p:spPr>
          <a:xfrm>
            <a:off x="2686050" y="4876800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opp_id / contract_id / customer_code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CE29101-2A62-445F-AA1F-0D7CB89B4733}"/>
              </a:ext>
            </a:extLst>
          </p:cNvPr>
          <p:cNvSpPr>
            <a:spLocks noGrp="1"/>
          </p:cNvSpPr>
          <p:nvPr/>
        </p:nvSpPr>
        <p:spPr>
          <a:xfrm>
            <a:off x="5067300" y="4876800"/>
            <a:ext cx="2457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Altoc 管经营；Aims 管交付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476A09D-8525-4E13-BDD9-20CED0ACDF48}"/>
              </a:ext>
            </a:extLst>
          </p:cNvPr>
          <p:cNvSpPr>
            <a:spLocks noGrp="1"/>
          </p:cNvSpPr>
          <p:nvPr/>
        </p:nvSpPr>
        <p:spPr>
          <a:xfrm>
            <a:off x="7639050" y="48768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API 桥接，不合并数据库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1A01AFE-4BAC-4955-8B26-D9371E270D56}"/>
              </a:ext>
            </a:extLst>
          </p:cNvPr>
          <p:cNvSpPr>
            <a:spLocks noGrp="1"/>
          </p:cNvSpPr>
          <p:nvPr/>
        </p:nvSpPr>
        <p:spPr>
          <a:xfrm>
            <a:off x="990600" y="5143500"/>
            <a:ext cx="920115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5FA1464-0462-42FB-ABFA-ED0F4E0B1F0B}"/>
              </a:ext>
            </a:extLst>
          </p:cNvPr>
          <p:cNvSpPr>
            <a:spLocks noGrp="1"/>
          </p:cNvSpPr>
          <p:nvPr/>
        </p:nvSpPr>
        <p:spPr>
          <a:xfrm>
            <a:off x="1066800" y="52006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Aims -&gt; Codocs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AFB2903-E6DA-4628-A0C8-7862B4522801}"/>
              </a:ext>
            </a:extLst>
          </p:cNvPr>
          <p:cNvSpPr>
            <a:spLocks noGrp="1"/>
          </p:cNvSpPr>
          <p:nvPr/>
        </p:nvSpPr>
        <p:spPr>
          <a:xfrm>
            <a:off x="2686050" y="5200650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project_code / document uuid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D035C1C-AEEA-4A40-BA2E-219ADE4BEA97}"/>
              </a:ext>
            </a:extLst>
          </p:cNvPr>
          <p:cNvSpPr>
            <a:spLocks noGrp="1"/>
          </p:cNvSpPr>
          <p:nvPr/>
        </p:nvSpPr>
        <p:spPr>
          <a:xfrm>
            <a:off x="5067300" y="5200650"/>
            <a:ext cx="2457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Codocs 管文档正文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23B69B9-2CFF-4BA0-8EC3-3C2FC4B6AD88}"/>
              </a:ext>
            </a:extLst>
          </p:cNvPr>
          <p:cNvSpPr>
            <a:spLocks noGrp="1"/>
          </p:cNvSpPr>
          <p:nvPr/>
        </p:nvSpPr>
        <p:spPr>
          <a:xfrm>
            <a:off x="7639050" y="520065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iframe 或 API 引用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CFC3C16-3489-473D-BEC1-30F2318E82ED}"/>
              </a:ext>
            </a:extLst>
          </p:cNvPr>
          <p:cNvSpPr>
            <a:spLocks noGrp="1"/>
          </p:cNvSpPr>
          <p:nvPr/>
        </p:nvSpPr>
        <p:spPr>
          <a:xfrm>
            <a:off x="990600" y="5467350"/>
            <a:ext cx="920115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3BEC0F2-FB9C-4E26-AE18-69337477DBF3}"/>
              </a:ext>
            </a:extLst>
          </p:cNvPr>
          <p:cNvSpPr>
            <a:spLocks noGrp="1"/>
          </p:cNvSpPr>
          <p:nvPr/>
        </p:nvSpPr>
        <p:spPr>
          <a:xfrm>
            <a:off x="1066800" y="552450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Altoc/Aims -&gt; Finance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7EF5DE0-5D9F-4AAB-ADD5-54E70F0CB620}"/>
              </a:ext>
            </a:extLst>
          </p:cNvPr>
          <p:cNvSpPr>
            <a:spLocks noGrp="1"/>
          </p:cNvSpPr>
          <p:nvPr/>
        </p:nvSpPr>
        <p:spPr>
          <a:xfrm>
            <a:off x="2686050" y="5524500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contract/payment/project code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04BAAE6-1919-4E49-8DC5-261A9B1D1865}"/>
              </a:ext>
            </a:extLst>
          </p:cNvPr>
          <p:cNvSpPr>
            <a:spLocks noGrp="1"/>
          </p:cNvSpPr>
          <p:nvPr/>
        </p:nvSpPr>
        <p:spPr>
          <a:xfrm>
            <a:off x="5067300" y="5524500"/>
            <a:ext cx="2457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Finance 管财务事实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1C8383C-EAA7-44B3-B761-B5EAAF811954}"/>
              </a:ext>
            </a:extLst>
          </p:cNvPr>
          <p:cNvSpPr>
            <a:spLocks noGrp="1"/>
          </p:cNvSpPr>
          <p:nvPr/>
        </p:nvSpPr>
        <p:spPr>
          <a:xfrm>
            <a:off x="7639050" y="55245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Altoc 展示摘要，不做财务事实源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53577C-ECF6-4B06-A378-B266BF9D9B91}"/>
              </a:ext>
            </a:extLst>
          </p:cNvPr>
          <p:cNvSpPr>
            <a:spLocks noGrp="1"/>
          </p:cNvSpPr>
          <p:nvPr/>
        </p:nvSpPr>
        <p:spPr>
          <a:xfrm>
            <a:off x="990600" y="5791200"/>
            <a:ext cx="920115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C76C156-D460-4DD7-9E67-A1CDDC1D181D}"/>
              </a:ext>
            </a:extLst>
          </p:cNvPr>
          <p:cNvSpPr>
            <a:spLocks noGrp="1"/>
          </p:cNvSpPr>
          <p:nvPr/>
        </p:nvSpPr>
        <p:spPr>
          <a:xfrm>
            <a:off x="1066800" y="58483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Assets -&gt; Aims/Altoc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09D13CA-06A7-428F-A07D-A9E9A5B73F38}"/>
              </a:ext>
            </a:extLst>
          </p:cNvPr>
          <p:cNvSpPr>
            <a:spLocks noGrp="1"/>
          </p:cNvSpPr>
          <p:nvPr/>
        </p:nvSpPr>
        <p:spPr>
          <a:xfrm>
            <a:off x="2686050" y="5848350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project_code / customer_code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A9911D3-9B0F-489F-868A-07AA6CA331C7}"/>
              </a:ext>
            </a:extLst>
          </p:cNvPr>
          <p:cNvSpPr>
            <a:spLocks noGrp="1"/>
          </p:cNvSpPr>
          <p:nvPr/>
        </p:nvSpPr>
        <p:spPr>
          <a:xfrm>
            <a:off x="5067300" y="5848350"/>
            <a:ext cx="2457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Assets 管资产与成本归因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1F00D95-A62F-4D90-B22E-CFCBFE13FCE4}"/>
              </a:ext>
            </a:extLst>
          </p:cNvPr>
          <p:cNvSpPr>
            <a:spLocks noGrp="1"/>
          </p:cNvSpPr>
          <p:nvPr/>
        </p:nvSpPr>
        <p:spPr>
          <a:xfrm>
            <a:off x="7639050" y="584835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只保存业务键和必要快照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0760534-990D-4D57-8AB2-65ABD7C3FCA1}"/>
              </a:ext>
            </a:extLst>
          </p:cNvPr>
          <p:cNvSpPr>
            <a:spLocks noGrp="1"/>
          </p:cNvSpPr>
          <p:nvPr/>
        </p:nvSpPr>
        <p:spPr>
          <a:xfrm>
            <a:off x="990600" y="6115050"/>
            <a:ext cx="920115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BFBBC33-8971-46E9-9A9B-3F3DCB9B76E5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641802C-20CA-428D-B05E-8303A13A5707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11BFD48-6796-41B5-B64C-3AB1F7261B8B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1768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8C41A52-C931-4182-8ABE-AD9ED6F70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7521A32-D317-428C-8A69-D26B8C1C4605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12B8F91-7DA1-4AA5-B7AC-F915D48708D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DEPLOYMENT TARGET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0A8DD5-BBDE-471E-BD58-26DDC1CEA6DB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默认 SaaS 目标是平台托管应用运行时，客户侧 Agent 自管数据面。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B36C97-0CF3-4E56-B861-AF107700C769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466850" cy="781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901506-1919-4A38-B005-74DB404D16CF}"/>
              </a:ext>
            </a:extLst>
          </p:cNvPr>
          <p:cNvSpPr>
            <a:spLocks noGrp="1"/>
          </p:cNvSpPr>
          <p:nvPr/>
        </p:nvSpPr>
        <p:spPr>
          <a:xfrm>
            <a:off x="819150" y="25336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Browser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2F50B3-DF25-4101-9C41-2C3D3F20BCD7}"/>
              </a:ext>
            </a:extLst>
          </p:cNvPr>
          <p:cNvSpPr>
            <a:spLocks noGrp="1"/>
          </p:cNvSpPr>
          <p:nvPr/>
        </p:nvSpPr>
        <p:spPr>
          <a:xfrm>
            <a:off x="819150" y="2790825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租户域名访问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207744-020D-49C8-83AC-1615DA371B4F}"/>
              </a:ext>
            </a:extLst>
          </p:cNvPr>
          <p:cNvSpPr>
            <a:spLocks noGrp="1"/>
          </p:cNvSpPr>
          <p:nvPr/>
        </p:nvSpPr>
        <p:spPr>
          <a:xfrm>
            <a:off x="2857500" y="2381250"/>
            <a:ext cx="1733550" cy="78105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C0A85F-6946-4E11-8263-ACDF5717B95F}"/>
              </a:ext>
            </a:extLst>
          </p:cNvPr>
          <p:cNvSpPr>
            <a:spLocks noGrp="1"/>
          </p:cNvSpPr>
          <p:nvPr/>
        </p:nvSpPr>
        <p:spPr>
          <a:xfrm>
            <a:off x="3009900" y="25336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Tenant Gateway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B48A35-675D-470C-B887-508459B83133}"/>
              </a:ext>
            </a:extLst>
          </p:cNvPr>
          <p:cNvSpPr>
            <a:spLocks noGrp="1"/>
          </p:cNvSpPr>
          <p:nvPr/>
        </p:nvSpPr>
        <p:spPr>
          <a:xfrm>
            <a:off x="3009900" y="27908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解析 hostname/path</a:t>
            </a:r>
          </a:p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注入签名租户上下文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789BD7-7423-4D8C-A78B-9B08D1C84681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809750" cy="78105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9D120C-C0BF-4D46-9E9C-AAC6B21DB849}"/>
              </a:ext>
            </a:extLst>
          </p:cNvPr>
          <p:cNvSpPr>
            <a:spLocks noGrp="1"/>
          </p:cNvSpPr>
          <p:nvPr/>
        </p:nvSpPr>
        <p:spPr>
          <a:xfrm>
            <a:off x="5600700" y="2533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App Worker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4B8696-CD26-46AB-A639-37231C287F9E}"/>
              </a:ext>
            </a:extLst>
          </p:cNvPr>
          <p:cNvSpPr>
            <a:spLocks noGrp="1"/>
          </p:cNvSpPr>
          <p:nvPr/>
        </p:nvSpPr>
        <p:spPr>
          <a:xfrm>
            <a:off x="5600700" y="2790825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Console / 业务应用</a:t>
            </a:r>
          </a:p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读取 runtime config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32F540-A2BA-43A2-A730-BDE4F4F38B90}"/>
              </a:ext>
            </a:extLst>
          </p:cNvPr>
          <p:cNvSpPr>
            <a:spLocks noGrp="1"/>
          </p:cNvSpPr>
          <p:nvPr/>
        </p:nvSpPr>
        <p:spPr>
          <a:xfrm>
            <a:off x="8115300" y="2381250"/>
            <a:ext cx="1790700" cy="78105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DE25E2-C6D3-49A5-B021-33FA4DC353F6}"/>
              </a:ext>
            </a:extLst>
          </p:cNvPr>
          <p:cNvSpPr>
            <a:spLocks noGrp="1"/>
          </p:cNvSpPr>
          <p:nvPr/>
        </p:nvSpPr>
        <p:spPr>
          <a:xfrm>
            <a:off x="8267700" y="253365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Data Runtime Agent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9C5E0C-0003-4EDD-913C-3A2C191D8846}"/>
              </a:ext>
            </a:extLst>
          </p:cNvPr>
          <p:cNvSpPr>
            <a:spLocks noGrp="1"/>
          </p:cNvSpPr>
          <p:nvPr/>
        </p:nvSpPr>
        <p:spPr>
          <a:xfrm>
            <a:off x="8267700" y="2790825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校验 token/scope</a:t>
            </a:r>
          </a:p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执行业务 API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E3F8FD-5C33-4534-B693-6F6FA92838EA}"/>
              </a:ext>
            </a:extLst>
          </p:cNvPr>
          <p:cNvSpPr>
            <a:spLocks noGrp="1"/>
          </p:cNvSpPr>
          <p:nvPr/>
        </p:nvSpPr>
        <p:spPr>
          <a:xfrm>
            <a:off x="10572750" y="2381250"/>
            <a:ext cx="1123950" cy="781050"/>
          </a:xfrm>
          <a:prstGeom prst="rect">
            <a:avLst/>
          </a:prstGeom>
          <a:solidFill>
            <a:srgbClr val="BE123C"/>
          </a:solidFill>
          <a:ln w="95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49F342-9522-40C7-BD7E-744490723EFC}"/>
              </a:ext>
            </a:extLst>
          </p:cNvPr>
          <p:cNvSpPr>
            <a:spLocks noGrp="1"/>
          </p:cNvSpPr>
          <p:nvPr/>
        </p:nvSpPr>
        <p:spPr>
          <a:xfrm>
            <a:off x="10725150" y="2533650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Data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5EA3D3-F5BC-4395-BC1E-07BC0F6ABDF0}"/>
              </a:ext>
            </a:extLst>
          </p:cNvPr>
          <p:cNvSpPr>
            <a:spLocks noGrp="1"/>
          </p:cNvSpPr>
          <p:nvPr/>
        </p:nvSpPr>
        <p:spPr>
          <a:xfrm>
            <a:off x="10725150" y="2790825"/>
            <a:ext cx="819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MySQL</a:t>
            </a:r>
          </a:p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OSS</a:t>
            </a:r>
          </a:p>
          <a:p>
            <a:pPr algn="ctr">
              <a:def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DDE7F2"/>
                </a:solidFill>
                <a:latin typeface="PingFang SC"/>
                <a:ea typeface="PingFang SC"/>
                <a:cs typeface="PingFang SC"/>
              </a:rPr>
              <a:t>Git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1146CC-7264-4858-9855-695250E13429}"/>
              </a:ext>
            </a:extLst>
          </p:cNvPr>
          <p:cNvSpPr>
            <a:spLocks noGrp="1"/>
          </p:cNvSpPr>
          <p:nvPr/>
        </p:nvSpPr>
        <p:spPr>
          <a:xfrm>
            <a:off x="2228850" y="2771775"/>
            <a:ext cx="438150" cy="190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D1338D-7F8D-4D10-8D38-9BEC5835180D}"/>
              </a:ext>
            </a:extLst>
          </p:cNvPr>
          <p:cNvSpPr>
            <a:spLocks noGrp="1"/>
          </p:cNvSpPr>
          <p:nvPr/>
        </p:nvSpPr>
        <p:spPr>
          <a:xfrm>
            <a:off x="2667000" y="2733675"/>
            <a:ext cx="95250" cy="9525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3396BC-7839-4D7C-929C-153FE5FEEF1D}"/>
              </a:ext>
            </a:extLst>
          </p:cNvPr>
          <p:cNvSpPr>
            <a:spLocks noGrp="1"/>
          </p:cNvSpPr>
          <p:nvPr/>
        </p:nvSpPr>
        <p:spPr>
          <a:xfrm>
            <a:off x="4705350" y="2771775"/>
            <a:ext cx="5524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8083F5-C442-4E42-A8FD-D57542EC9E18}"/>
              </a:ext>
            </a:extLst>
          </p:cNvPr>
          <p:cNvSpPr>
            <a:spLocks noGrp="1"/>
          </p:cNvSpPr>
          <p:nvPr/>
        </p:nvSpPr>
        <p:spPr>
          <a:xfrm>
            <a:off x="5257800" y="2733675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E4F786-AD1F-480F-842F-76DDDD6B925B}"/>
              </a:ext>
            </a:extLst>
          </p:cNvPr>
          <p:cNvSpPr>
            <a:spLocks noGrp="1"/>
          </p:cNvSpPr>
          <p:nvPr/>
        </p:nvSpPr>
        <p:spPr>
          <a:xfrm>
            <a:off x="7372350" y="2771775"/>
            <a:ext cx="552450" cy="190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2337BB1-C93D-4ADC-98C4-9384E741F3C7}"/>
              </a:ext>
            </a:extLst>
          </p:cNvPr>
          <p:cNvSpPr>
            <a:spLocks noGrp="1"/>
          </p:cNvSpPr>
          <p:nvPr/>
        </p:nvSpPr>
        <p:spPr>
          <a:xfrm>
            <a:off x="7924800" y="2733675"/>
            <a:ext cx="95250" cy="95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15F59F-314E-495F-8E67-9C56442E3056}"/>
              </a:ext>
            </a:extLst>
          </p:cNvPr>
          <p:cNvSpPr>
            <a:spLocks noGrp="1"/>
          </p:cNvSpPr>
          <p:nvPr/>
        </p:nvSpPr>
        <p:spPr>
          <a:xfrm>
            <a:off x="10020300" y="2771775"/>
            <a:ext cx="38100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07CF10-AF56-4D0C-BEBC-4DA74D4A1E7F}"/>
              </a:ext>
            </a:extLst>
          </p:cNvPr>
          <p:cNvSpPr>
            <a:spLocks noGrp="1"/>
          </p:cNvSpPr>
          <p:nvPr/>
        </p:nvSpPr>
        <p:spPr>
          <a:xfrm>
            <a:off x="10401300" y="2733675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EE38A6E-9FA7-40DF-80F6-B4699EBC3BB6}"/>
              </a:ext>
            </a:extLst>
          </p:cNvPr>
          <p:cNvSpPr>
            <a:spLocks noGrp="1"/>
          </p:cNvSpPr>
          <p:nvPr/>
        </p:nvSpPr>
        <p:spPr>
          <a:xfrm>
            <a:off x="933450" y="42100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Platform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20D9716-88C3-4763-9076-746FB518FFF9}"/>
              </a:ext>
            </a:extLst>
          </p:cNvPr>
          <p:cNvSpPr>
            <a:spLocks noGrp="1"/>
          </p:cNvSpPr>
          <p:nvPr/>
        </p:nvSpPr>
        <p:spPr>
          <a:xfrm>
            <a:off x="933450" y="4533900"/>
            <a:ext cx="4000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不进入业务热路径；负责配置发布、应用治理、policy bundle、license、heartbeat、部署和审计。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641D3D4-637C-44C7-8D3C-A91A6AE87AF6}"/>
              </a:ext>
            </a:extLst>
          </p:cNvPr>
          <p:cNvSpPr>
            <a:spLocks noGrp="1"/>
          </p:cNvSpPr>
          <p:nvPr/>
        </p:nvSpPr>
        <p:spPr>
          <a:xfrm>
            <a:off x="6343650" y="42100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 不是 SQL 代理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4FC7ED3-A833-4E55-9B28-F8F1904423D7}"/>
              </a:ext>
            </a:extLst>
          </p:cNvPr>
          <p:cNvSpPr>
            <a:spLocks noGrp="1"/>
          </p:cNvSpPr>
          <p:nvPr/>
        </p:nvSpPr>
        <p:spPr>
          <a:xfrm>
            <a:off x="6343650" y="4533900"/>
            <a:ext cx="4095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只暴露 /v1/finance/invoices、/v1/aims/projects 这类业务 API；不暴露通用 /query。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5EC6CAF-541D-474A-8598-97FF2DEEFC04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7DA751-A3CC-47AD-ABF8-1DEA4ABD644C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来源：ADR-014 Managed Cloud Agent 与部署 Profile 收敛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9C6A5B6-F569-419B-9AA8-6E86736418F7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834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458413D3-05F7-4ACF-8D4A-08192627EF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50ACCD1-2FDA-4555-8629-D4A115A84981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80E321F-E132-4A9E-B8C9-C1694DBCBD32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UNIFIED DOMAIN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AD8473-7A43-4ABB-9C61-004E1DCE6538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 dirty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目标访问体验是一个租户工作空间域名，应用按</a:t>
            </a:r>
            <a:r>
              <a:rPr sz="2775" b="1" dirty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path </a:t>
            </a:r>
            <a:r>
              <a:rPr sz="2775" b="1" dirty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挂载</a:t>
            </a:r>
            <a:endParaRPr sz="2775" b="1" dirty="0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3786C4-DA5A-4A39-8856-FCC7CB510FE5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9906000" cy="89535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C32889-0F40-4040-AA92-0417195D3DC0}"/>
              </a:ext>
            </a:extLst>
          </p:cNvPr>
          <p:cNvSpPr>
            <a:spLocks noGrp="1"/>
          </p:cNvSpPr>
          <p:nvPr/>
        </p:nvSpPr>
        <p:spPr>
          <a:xfrm>
            <a:off x="1219200" y="2209800"/>
            <a:ext cx="523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https://wiztek.huizhi.yun/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72476F-A435-4B79-A090-59A8A5E1AF9F}"/>
              </a:ext>
            </a:extLst>
          </p:cNvPr>
          <p:cNvSpPr>
            <a:spLocks noGrp="1"/>
          </p:cNvSpPr>
          <p:nvPr/>
        </p:nvSpPr>
        <p:spPr>
          <a:xfrm>
            <a:off x="6972300" y="22669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租户统一入口 / Console / Portal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4B46F1-F728-493B-8285-8894003F3031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2381250" cy="495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5F5C2E-908C-4AE9-9FA5-E5A5579B3A6E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57150" cy="4953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686F50-4C36-4EF9-9103-A8D112F02D04}"/>
              </a:ext>
            </a:extLst>
          </p:cNvPr>
          <p:cNvSpPr>
            <a:spLocks noGrp="1"/>
          </p:cNvSpPr>
          <p:nvPr/>
        </p:nvSpPr>
        <p:spPr>
          <a:xfrm>
            <a:off x="1238250" y="3648075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F46E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F46E5"/>
                </a:solidFill>
                <a:latin typeface="Avenir Next"/>
                <a:ea typeface="Avenir Next"/>
                <a:cs typeface="Avenir Next"/>
              </a:rPr>
              <a:t>/aims/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E782D4-7988-4C67-9270-47185E5CD6D6}"/>
              </a:ext>
            </a:extLst>
          </p:cNvPr>
          <p:cNvSpPr>
            <a:spLocks noGrp="1"/>
          </p:cNvSpPr>
          <p:nvPr/>
        </p:nvSpPr>
        <p:spPr>
          <a:xfrm>
            <a:off x="2324100" y="3657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研发项目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834B99-CB1A-4190-923F-3FFD3BF56356}"/>
              </a:ext>
            </a:extLst>
          </p:cNvPr>
          <p:cNvSpPr>
            <a:spLocks noGrp="1"/>
          </p:cNvSpPr>
          <p:nvPr/>
        </p:nvSpPr>
        <p:spPr>
          <a:xfrm>
            <a:off x="4305300" y="3524250"/>
            <a:ext cx="2381250" cy="495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6EAB16-1356-492D-82B0-4CB9552DF935}"/>
              </a:ext>
            </a:extLst>
          </p:cNvPr>
          <p:cNvSpPr>
            <a:spLocks noGrp="1"/>
          </p:cNvSpPr>
          <p:nvPr/>
        </p:nvSpPr>
        <p:spPr>
          <a:xfrm>
            <a:off x="4305300" y="3524250"/>
            <a:ext cx="57150" cy="495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297544-E98B-4AC7-99BF-4D4CED290FB1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/codocs/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B8F92F-4495-4850-8F31-4E2C4B41F38C}"/>
              </a:ext>
            </a:extLst>
          </p:cNvPr>
          <p:cNvSpPr>
            <a:spLocks noGrp="1"/>
          </p:cNvSpPr>
          <p:nvPr/>
        </p:nvSpPr>
        <p:spPr>
          <a:xfrm>
            <a:off x="5562600" y="3657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协作文档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FF122B-5150-4212-974F-F347459DB78A}"/>
              </a:ext>
            </a:extLst>
          </p:cNvPr>
          <p:cNvSpPr>
            <a:spLocks noGrp="1"/>
          </p:cNvSpPr>
          <p:nvPr/>
        </p:nvSpPr>
        <p:spPr>
          <a:xfrm>
            <a:off x="7543800" y="3524250"/>
            <a:ext cx="2381250" cy="495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D174CB-CD2A-479C-B355-72FD66B7C210}"/>
              </a:ext>
            </a:extLst>
          </p:cNvPr>
          <p:cNvSpPr>
            <a:spLocks noGrp="1"/>
          </p:cNvSpPr>
          <p:nvPr/>
        </p:nvSpPr>
        <p:spPr>
          <a:xfrm>
            <a:off x="7543800" y="3524250"/>
            <a:ext cx="57150" cy="4953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E355ED-809E-4A5E-B7A5-9BB0D6A8218C}"/>
              </a:ext>
            </a:extLst>
          </p:cNvPr>
          <p:cNvSpPr>
            <a:spLocks noGrp="1"/>
          </p:cNvSpPr>
          <p:nvPr/>
        </p:nvSpPr>
        <p:spPr>
          <a:xfrm>
            <a:off x="7715250" y="3648075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4530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45309"/>
                </a:solidFill>
                <a:latin typeface="Avenir Next"/>
                <a:ea typeface="Avenir Next"/>
                <a:cs typeface="Avenir Next"/>
              </a:rPr>
              <a:t>/altoc/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1DBA71-1D3B-4BF5-BE7F-B4A72178CD31}"/>
              </a:ext>
            </a:extLst>
          </p:cNvPr>
          <p:cNvSpPr>
            <a:spLocks noGrp="1"/>
          </p:cNvSpPr>
          <p:nvPr/>
        </p:nvSpPr>
        <p:spPr>
          <a:xfrm>
            <a:off x="8801100" y="3657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经营管理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97BED6-EFE4-4988-9C76-9B342D1C3DF1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2381250" cy="495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EE7FD3-E887-4415-89D9-F16A94096F72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57150" cy="4953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817C25-F835-45D3-A51B-EB0BA51DC8B5}"/>
              </a:ext>
            </a:extLst>
          </p:cNvPr>
          <p:cNvSpPr>
            <a:spLocks noGrp="1"/>
          </p:cNvSpPr>
          <p:nvPr/>
        </p:nvSpPr>
        <p:spPr>
          <a:xfrm>
            <a:off x="1238250" y="4448175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E123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E123C"/>
                </a:solidFill>
                <a:latin typeface="Avenir Next"/>
                <a:ea typeface="Avenir Next"/>
                <a:cs typeface="Avenir Next"/>
              </a:rPr>
              <a:t>/finance/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0F15EF-E3C7-4DA5-9CF6-C426BE041CFD}"/>
              </a:ext>
            </a:extLst>
          </p:cNvPr>
          <p:cNvSpPr>
            <a:spLocks noGrp="1"/>
          </p:cNvSpPr>
          <p:nvPr/>
        </p:nvSpPr>
        <p:spPr>
          <a:xfrm>
            <a:off x="2324100" y="44577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经营财务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FC88470-05DC-45BD-84EC-4FB5A63C038D}"/>
              </a:ext>
            </a:extLst>
          </p:cNvPr>
          <p:cNvSpPr>
            <a:spLocks noGrp="1"/>
          </p:cNvSpPr>
          <p:nvPr/>
        </p:nvSpPr>
        <p:spPr>
          <a:xfrm>
            <a:off x="4305300" y="4324350"/>
            <a:ext cx="2381250" cy="495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1F9FF6-3991-4827-854F-E7A180A0C4DD}"/>
              </a:ext>
            </a:extLst>
          </p:cNvPr>
          <p:cNvSpPr>
            <a:spLocks noGrp="1"/>
          </p:cNvSpPr>
          <p:nvPr/>
        </p:nvSpPr>
        <p:spPr>
          <a:xfrm>
            <a:off x="4305300" y="4324350"/>
            <a:ext cx="57150" cy="4953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AE6535-58BB-43F6-A701-9DA458495EB2}"/>
              </a:ext>
            </a:extLst>
          </p:cNvPr>
          <p:cNvSpPr>
            <a:spLocks noGrp="1"/>
          </p:cNvSpPr>
          <p:nvPr/>
        </p:nvSpPr>
        <p:spPr>
          <a:xfrm>
            <a:off x="4476750" y="4448175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5803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5803D"/>
                </a:solidFill>
                <a:latin typeface="Avenir Next"/>
                <a:ea typeface="Avenir Next"/>
                <a:cs typeface="Avenir Next"/>
              </a:rPr>
              <a:t>/assets/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1D719E-24A7-4DE8-8B13-5321FC23B351}"/>
              </a:ext>
            </a:extLst>
          </p:cNvPr>
          <p:cNvSpPr>
            <a:spLocks noGrp="1"/>
          </p:cNvSpPr>
          <p:nvPr/>
        </p:nvSpPr>
        <p:spPr>
          <a:xfrm>
            <a:off x="5562600" y="44577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资产资源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3047A8D-5BA8-4B4D-994E-6C57FAE340F9}"/>
              </a:ext>
            </a:extLst>
          </p:cNvPr>
          <p:cNvSpPr>
            <a:spLocks noGrp="1"/>
          </p:cNvSpPr>
          <p:nvPr/>
        </p:nvSpPr>
        <p:spPr>
          <a:xfrm>
            <a:off x="7543800" y="4324350"/>
            <a:ext cx="2381250" cy="495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BC12D93-007A-4731-BE9E-CEADC1341286}"/>
              </a:ext>
            </a:extLst>
          </p:cNvPr>
          <p:cNvSpPr>
            <a:spLocks noGrp="1"/>
          </p:cNvSpPr>
          <p:nvPr/>
        </p:nvSpPr>
        <p:spPr>
          <a:xfrm>
            <a:off x="7543800" y="4324350"/>
            <a:ext cx="57150" cy="49530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48209-1075-4E24-BB34-87FE08A0EE23}"/>
              </a:ext>
            </a:extLst>
          </p:cNvPr>
          <p:cNvSpPr>
            <a:spLocks noGrp="1"/>
          </p:cNvSpPr>
          <p:nvPr/>
        </p:nvSpPr>
        <p:spPr>
          <a:xfrm>
            <a:off x="7715250" y="4448175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/workflow/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9C087F-0597-4EFB-8520-25004CDE16B3}"/>
              </a:ext>
            </a:extLst>
          </p:cNvPr>
          <p:cNvSpPr>
            <a:spLocks noGrp="1"/>
          </p:cNvSpPr>
          <p:nvPr/>
        </p:nvSpPr>
        <p:spPr>
          <a:xfrm>
            <a:off x="8801100" y="44577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审批运行时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0796C2-6598-4A73-90F9-8BEFCB918310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923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appCode 是身份；basePath/homeUrl/callbackUrl 由 Platform 的部署站点和 policy bundle 生成。业务应用不要手写固定域名或 localhost callback。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ED1E63-5A6B-4387-A7D1-E8FC89D050A3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0A2B01-4DB9-421F-852B-A34255CE4070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来源：docs/Unified-Domain-Deployment-Plan.md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9BDC855-4347-4D15-A92E-CAC98583E213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405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5BAD4691-33ED-46C4-A5DF-186BD7B7F7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51D08A4-10CA-412C-A66D-976671A434C5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B5AEA47-0A0A-4B67-B7E2-525B6AA3997C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STATUS SNAPSHOT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E3A34A-3D9F-4E4B-B434-D4CFBA141700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9705304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 dirty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当前模块状态：已有可用业务能力，但平台化收敛仍是主线</a:t>
            </a:r>
            <a:endParaRPr sz="2775" b="1" dirty="0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AAFB9D-01E8-485F-918F-5F3A3377A348}"/>
              </a:ext>
            </a:extLst>
          </p:cNvPr>
          <p:cNvSpPr>
            <a:spLocks noGrp="1"/>
          </p:cNvSpPr>
          <p:nvPr/>
        </p:nvSpPr>
        <p:spPr>
          <a:xfrm>
            <a:off x="685800" y="1704975"/>
            <a:ext cx="10353675" cy="34290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E40D37-9B4B-40B4-9381-E1A4C71BE38E}"/>
              </a:ext>
            </a:extLst>
          </p:cNvPr>
          <p:cNvSpPr>
            <a:spLocks noGrp="1"/>
          </p:cNvSpPr>
          <p:nvPr/>
        </p:nvSpPr>
        <p:spPr>
          <a:xfrm>
            <a:off x="762000" y="1781175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9DF8D8-5562-42F0-9EB6-A82D2BFB05D2}"/>
              </a:ext>
            </a:extLst>
          </p:cNvPr>
          <p:cNvSpPr>
            <a:spLocks noGrp="1"/>
          </p:cNvSpPr>
          <p:nvPr/>
        </p:nvSpPr>
        <p:spPr>
          <a:xfrm>
            <a:off x="2047875" y="1781175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B37967-D6E5-476C-B89C-B9E17625401C}"/>
              </a:ext>
            </a:extLst>
          </p:cNvPr>
          <p:cNvSpPr>
            <a:spLocks noGrp="1"/>
          </p:cNvSpPr>
          <p:nvPr/>
        </p:nvSpPr>
        <p:spPr>
          <a:xfrm>
            <a:off x="3286125" y="178117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84723-48B8-4877-BA8D-4BD4446720A8}"/>
              </a:ext>
            </a:extLst>
          </p:cNvPr>
          <p:cNvSpPr>
            <a:spLocks noGrp="1"/>
          </p:cNvSpPr>
          <p:nvPr/>
        </p:nvSpPr>
        <p:spPr>
          <a:xfrm>
            <a:off x="4391025" y="1781175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近期关注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291C62-EB23-4973-8EB3-A87DEE0A1857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account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7485EF-6327-4851-A4F5-340FA338F098}"/>
              </a:ext>
            </a:extLst>
          </p:cNvPr>
          <p:cNvSpPr>
            <a:spLocks noGrp="1"/>
          </p:cNvSpPr>
          <p:nvPr/>
        </p:nvSpPr>
        <p:spPr>
          <a:xfrm>
            <a:off x="2047875" y="21336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迁移期底座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6DF95D-C7C5-43F6-85E4-D3B4712EA5E6}"/>
              </a:ext>
            </a:extLst>
          </p:cNvPr>
          <p:cNvSpPr>
            <a:spLocks noGrp="1"/>
          </p:cNvSpPr>
          <p:nvPr/>
        </p:nvSpPr>
        <p:spPr>
          <a:xfrm>
            <a:off x="3286125" y="21336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已上线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814841-F606-4099-A75C-1E7E86150BD5}"/>
              </a:ext>
            </a:extLst>
          </p:cNvPr>
          <p:cNvSpPr>
            <a:spLocks noGrp="1"/>
          </p:cNvSpPr>
          <p:nvPr/>
        </p:nvSpPr>
        <p:spPr>
          <a:xfrm>
            <a:off x="4391025" y="213360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目录能力迁往 Console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CB8BD5-9008-415E-B513-1C3D299E0D7D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86C1E2-E634-4136-8E49-E810803BC222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codocs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6C73E2-A6FA-4E25-91A4-511CB6953672}"/>
              </a:ext>
            </a:extLst>
          </p:cNvPr>
          <p:cNvSpPr>
            <a:spLocks noGrp="1"/>
          </p:cNvSpPr>
          <p:nvPr/>
        </p:nvSpPr>
        <p:spPr>
          <a:xfrm>
            <a:off x="2047875" y="24955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业务应用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D0EED5-6A19-46BA-BA6F-B56ABCE5F555}"/>
              </a:ext>
            </a:extLst>
          </p:cNvPr>
          <p:cNvSpPr>
            <a:spLocks noGrp="1"/>
          </p:cNvSpPr>
          <p:nvPr/>
        </p:nvSpPr>
        <p:spPr>
          <a:xfrm>
            <a:off x="3286125" y="249555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已上线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1097DD-F840-4E7D-98F2-26141BEBFFEB}"/>
              </a:ext>
            </a:extLst>
          </p:cNvPr>
          <p:cNvSpPr>
            <a:spLocks noGrp="1"/>
          </p:cNvSpPr>
          <p:nvPr/>
        </p:nvSpPr>
        <p:spPr>
          <a:xfrm>
            <a:off x="4391025" y="249555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新平台 token / Collab 云化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42A8FB-A642-4852-A081-11106C9B6BBC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DA2D8E-8601-4BED-BB49-A94687D12FE4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insights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181E27-D49C-4C07-9F31-4986C8C0562B}"/>
              </a:ext>
            </a:extLst>
          </p:cNvPr>
          <p:cNvSpPr>
            <a:spLocks noGrp="1"/>
          </p:cNvSpPr>
          <p:nvPr/>
        </p:nvSpPr>
        <p:spPr>
          <a:xfrm>
            <a:off x="2047875" y="28575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业务应用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9E1102-2731-407B-9186-5D6F9BCCF098}"/>
              </a:ext>
            </a:extLst>
          </p:cNvPr>
          <p:cNvSpPr>
            <a:spLocks noGrp="1"/>
          </p:cNvSpPr>
          <p:nvPr/>
        </p:nvSpPr>
        <p:spPr>
          <a:xfrm>
            <a:off x="3286125" y="28575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已上线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7DACED-A9AE-473E-89FC-EBEB85B6B7F5}"/>
              </a:ext>
            </a:extLst>
          </p:cNvPr>
          <p:cNvSpPr>
            <a:spLocks noGrp="1"/>
          </p:cNvSpPr>
          <p:nvPr/>
        </p:nvSpPr>
        <p:spPr>
          <a:xfrm>
            <a:off x="4391025" y="285750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Foundation 与 Console OIDC 收敛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AE9535F-CE48-4B41-9AA4-CFFB93B5AA60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CEA925-012B-4428-A971-A88A2ED5F68E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foundation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FD6F65-5C7F-4FD4-93AE-B6BC4E71D343}"/>
              </a:ext>
            </a:extLst>
          </p:cNvPr>
          <p:cNvSpPr>
            <a:spLocks noGrp="1"/>
          </p:cNvSpPr>
          <p:nvPr/>
        </p:nvSpPr>
        <p:spPr>
          <a:xfrm>
            <a:off x="2047875" y="32194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共享层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37BF3C-4D7F-464F-ACAC-15823260BDF7}"/>
              </a:ext>
            </a:extLst>
          </p:cNvPr>
          <p:cNvSpPr>
            <a:spLocks noGrp="1"/>
          </p:cNvSpPr>
          <p:nvPr/>
        </p:nvSpPr>
        <p:spPr>
          <a:xfrm>
            <a:off x="3286125" y="321945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已就绪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A81BF3-71D3-45B1-B067-0D7ADBB95A75}"/>
              </a:ext>
            </a:extLst>
          </p:cNvPr>
          <p:cNvSpPr>
            <a:spLocks noGrp="1"/>
          </p:cNvSpPr>
          <p:nvPr/>
        </p:nvSpPr>
        <p:spPr>
          <a:xfrm>
            <a:off x="4391025" y="321945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adapter 稳定化，legacy 收口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B18FF7-D641-4519-88B5-547D3D57F9D1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6C23CC1-AFEC-4DCE-B293-C23756886273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platform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E8A855-0202-415A-BA85-84C122596330}"/>
              </a:ext>
            </a:extLst>
          </p:cNvPr>
          <p:cNvSpPr>
            <a:spLocks noGrp="1"/>
          </p:cNvSpPr>
          <p:nvPr/>
        </p:nvSpPr>
        <p:spPr>
          <a:xfrm>
            <a:off x="2047875" y="35814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DD87C66-D266-4DD8-9395-CBA152182CD4}"/>
              </a:ext>
            </a:extLst>
          </p:cNvPr>
          <p:cNvSpPr>
            <a:spLocks noGrp="1"/>
          </p:cNvSpPr>
          <p:nvPr/>
        </p:nvSpPr>
        <p:spPr>
          <a:xfrm>
            <a:off x="3286125" y="35814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CE458-D696-4412-BF58-9DE66C1F078D}"/>
              </a:ext>
            </a:extLst>
          </p:cNvPr>
          <p:cNvSpPr>
            <a:spLocks noGrp="1"/>
          </p:cNvSpPr>
          <p:nvPr/>
        </p:nvSpPr>
        <p:spPr>
          <a:xfrm>
            <a:off x="4391025" y="358140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部署、bundle、租户开通、Cloudflare 编排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1ED6F35-AC30-43E7-81CE-9C48D5319A36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625C5B-47A3-422B-8AB9-D1CAD92A647E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console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73C9A57-2CED-4143-ABF4-735D3587E7EF}"/>
              </a:ext>
            </a:extLst>
          </p:cNvPr>
          <p:cNvSpPr>
            <a:spLocks noGrp="1"/>
          </p:cNvSpPr>
          <p:nvPr/>
        </p:nvSpPr>
        <p:spPr>
          <a:xfrm>
            <a:off x="2047875" y="39433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运行时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9272B7-F339-41DF-85DC-CFA48CD15638}"/>
              </a:ext>
            </a:extLst>
          </p:cNvPr>
          <p:cNvSpPr>
            <a:spLocks noGrp="1"/>
          </p:cNvSpPr>
          <p:nvPr/>
        </p:nvSpPr>
        <p:spPr>
          <a:xfrm>
            <a:off x="3286125" y="394335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建设中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8B12612-AF8E-46DF-A876-87FB4D92351A}"/>
              </a:ext>
            </a:extLst>
          </p:cNvPr>
          <p:cNvSpPr>
            <a:spLocks noGrp="1"/>
          </p:cNvSpPr>
          <p:nvPr/>
        </p:nvSpPr>
        <p:spPr>
          <a:xfrm>
            <a:off x="4391025" y="394335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directory/auth/vault/integration/入口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ADC056-6B7A-491C-942E-8DAB82CB8D34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9C8054-C725-49F5-9424-C9CD0C8D8525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aims / altoc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27EA1B7-8236-4B4E-9A68-3FFACAB83879}"/>
              </a:ext>
            </a:extLst>
          </p:cNvPr>
          <p:cNvSpPr>
            <a:spLocks noGrp="1"/>
          </p:cNvSpPr>
          <p:nvPr/>
        </p:nvSpPr>
        <p:spPr>
          <a:xfrm>
            <a:off x="2047875" y="43053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业务应用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65D5525-B804-4FDB-BD51-DA371A60F8CF}"/>
              </a:ext>
            </a:extLst>
          </p:cNvPr>
          <p:cNvSpPr>
            <a:spLocks noGrp="1"/>
          </p:cNvSpPr>
          <p:nvPr/>
        </p:nvSpPr>
        <p:spPr>
          <a:xfrm>
            <a:off x="3286125" y="43053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MVP/Beta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754217C-40EF-4742-A807-798F6A22136A}"/>
              </a:ext>
            </a:extLst>
          </p:cNvPr>
          <p:cNvSpPr>
            <a:spLocks noGrp="1"/>
          </p:cNvSpPr>
          <p:nvPr/>
        </p:nvSpPr>
        <p:spPr>
          <a:xfrm>
            <a:off x="4391025" y="430530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经营交付桥接、审批、权限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69E0D30-1380-4753-B5E8-A6969E9AEC93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2189FE0-D9F9-4269-A134-42EA9DE135C4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finance / assets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0A9B731-2B69-442D-8BE0-F590769E199D}"/>
              </a:ext>
            </a:extLst>
          </p:cNvPr>
          <p:cNvSpPr>
            <a:spLocks noGrp="1"/>
          </p:cNvSpPr>
          <p:nvPr/>
        </p:nvSpPr>
        <p:spPr>
          <a:xfrm>
            <a:off x="2047875" y="4667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业务应用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D6F5262-9DC8-4826-B946-5CF57CC491B6}"/>
              </a:ext>
            </a:extLst>
          </p:cNvPr>
          <p:cNvSpPr>
            <a:spLocks noGrp="1"/>
          </p:cNvSpPr>
          <p:nvPr/>
        </p:nvSpPr>
        <p:spPr>
          <a:xfrm>
            <a:off x="3286125" y="466725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开发/设计中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BD6B7E-1FDF-4C0D-972C-3AAA70B64E8B}"/>
              </a:ext>
            </a:extLst>
          </p:cNvPr>
          <p:cNvSpPr>
            <a:spLocks noGrp="1"/>
          </p:cNvSpPr>
          <p:nvPr/>
        </p:nvSpPr>
        <p:spPr>
          <a:xfrm>
            <a:off x="4391025" y="466725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财务事实、成本归因、审批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CC77540-08AB-4035-B459-D69F2D1371B9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22EF119-B24C-414B-B03C-73B27D7EDEBB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117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workflow / collab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3DCA96C-8A4F-4C23-BF54-77BFDC6AF57F}"/>
              </a:ext>
            </a:extLst>
          </p:cNvPr>
          <p:cNvSpPr>
            <a:spLocks noGrp="1"/>
          </p:cNvSpPr>
          <p:nvPr/>
        </p:nvSpPr>
        <p:spPr>
          <a:xfrm>
            <a:off x="2047875" y="50292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平台服务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B5F72BE-18C0-4F57-92FF-FB8E7048F415}"/>
              </a:ext>
            </a:extLst>
          </p:cNvPr>
          <p:cNvSpPr>
            <a:spLocks noGrp="1"/>
          </p:cNvSpPr>
          <p:nvPr/>
        </p:nvSpPr>
        <p:spPr>
          <a:xfrm>
            <a:off x="3286125" y="50292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开发中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11FFBAC-8F00-443B-B836-DF20B3034C2C}"/>
              </a:ext>
            </a:extLst>
          </p:cNvPr>
          <p:cNvSpPr>
            <a:spLocks noGrp="1"/>
          </p:cNvSpPr>
          <p:nvPr/>
        </p:nvSpPr>
        <p:spPr>
          <a:xfrm>
            <a:off x="4391025" y="5029200"/>
            <a:ext cx="645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Console runtime 收敛边界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D53BDF4-8BF4-43CE-9860-EE0513EF999F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353675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C8DB9A1-153B-416E-ACFD-DD26EC3EB4CF}"/>
              </a:ext>
            </a:extLst>
          </p:cNvPr>
          <p:cNvSpPr>
            <a:spLocks noGrp="1"/>
          </p:cNvSpPr>
          <p:nvPr/>
        </p:nvSpPr>
        <p:spPr>
          <a:xfrm>
            <a:off x="933450" y="5772150"/>
            <a:ext cx="76200" cy="762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A34FD52-1516-4E36-8D7B-EAC7BC06BAA8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已上线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1CB5C82-03CB-486F-B0C5-379D2C871AB6}"/>
              </a:ext>
            </a:extLst>
          </p:cNvPr>
          <p:cNvSpPr>
            <a:spLocks noGrp="1"/>
          </p:cNvSpPr>
          <p:nvPr/>
        </p:nvSpPr>
        <p:spPr>
          <a:xfrm>
            <a:off x="1981200" y="5772150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59B8144-530F-4602-8CCA-B0AB110AE66D}"/>
              </a:ext>
            </a:extLst>
          </p:cNvPr>
          <p:cNvSpPr>
            <a:spLocks noGrp="1"/>
          </p:cNvSpPr>
          <p:nvPr/>
        </p:nvSpPr>
        <p:spPr>
          <a:xfrm>
            <a:off x="2114550" y="5734050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开发中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5A648F2-9AFC-4247-8B86-36D17D8E6AE9}"/>
              </a:ext>
            </a:extLst>
          </p:cNvPr>
          <p:cNvSpPr>
            <a:spLocks noGrp="1"/>
          </p:cNvSpPr>
          <p:nvPr/>
        </p:nvSpPr>
        <p:spPr>
          <a:xfrm>
            <a:off x="3028950" y="5772150"/>
            <a:ext cx="76200" cy="76200"/>
          </a:xfrm>
          <a:prstGeom prst="rect">
            <a:avLst/>
          </a:prstGeom>
          <a:solidFill>
            <a:srgbClr val="6474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EE22236-6160-4DD7-8AA2-4624DA5D027E}"/>
              </a:ext>
            </a:extLst>
          </p:cNvPr>
          <p:cNvSpPr>
            <a:spLocks noGrp="1"/>
          </p:cNvSpPr>
          <p:nvPr/>
        </p:nvSpPr>
        <p:spPr>
          <a:xfrm>
            <a:off x="3162300" y="5734050"/>
            <a:ext cx="742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设计/暂缓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FC3E30B-36DB-4BCD-ACCC-944E3CC21199}"/>
              </a:ext>
            </a:extLst>
          </p:cNvPr>
          <p:cNvSpPr>
            <a:spLocks noGrp="1"/>
          </p:cNvSpPr>
          <p:nvPr/>
        </p:nvSpPr>
        <p:spPr>
          <a:xfrm>
            <a:off x="4572000" y="56959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状态来自仓库 CLAUDE.md 与模块 CLAUDE.md；实际编码前以模块当前代码和最新文档为准。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2F66C6D-7768-4989-9B42-52F5DDD386FE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6C6C9C5-8339-4D04-8078-66210CB7C2F7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8B67F82-5784-4073-865D-9C6BFF37F10C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2200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6DEFD9CE-A1B3-4E3E-9FE5-3B10AC76E6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D0662B8-CF7A-4676-B9CE-98ADE4FAD68D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EB1E096-AF22-4C25-AC41-3E3A8F83F6B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NEXT WORK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D30FDB-7A4B-4F66-B3A4-639DA62FCA1A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后续功能可以归为三条主线：平台运行时、业务闭环、部署产品化。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2A5014-E3BA-4DAB-B8FC-380A8631C9F2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2971800" cy="29908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DEAC95-4CFC-4D87-A4F4-B5E77F2C6A3B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297180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C2FB6B-E372-4FA3-B325-1FC3927AC0F9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平台运行时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37CAFB-A184-4E42-82EA-07102DECA3A0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9C3CFF-512A-4BF0-9E13-490F6CEABA21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Console directory/auth/vault/integration 补齐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15BD2C-356B-4473-80E9-BC37C4D6FF7A}"/>
              </a:ext>
            </a:extLst>
          </p:cNvPr>
          <p:cNvSpPr>
            <a:spLocks noGrp="1"/>
          </p:cNvSpPr>
          <p:nvPr/>
        </p:nvSpPr>
        <p:spPr>
          <a:xfrm>
            <a:off x="990600" y="32289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D9A40F-B61F-40FF-9A5A-59052A5B6C56}"/>
              </a:ext>
            </a:extLst>
          </p:cNvPr>
          <p:cNvSpPr>
            <a:spLocks noGrp="1"/>
          </p:cNvSpPr>
          <p:nvPr/>
        </p:nvSpPr>
        <p:spPr>
          <a:xfrm>
            <a:off x="1181100" y="3152775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Foundation adapters 稳定化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99BAB3-348A-4BC6-BC1E-58DA3D58365B}"/>
              </a:ext>
            </a:extLst>
          </p:cNvPr>
          <p:cNvSpPr>
            <a:spLocks noGrp="1"/>
          </p:cNvSpPr>
          <p:nvPr/>
        </p:nvSpPr>
        <p:spPr>
          <a:xfrm>
            <a:off x="990600" y="36576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C86658-2DC7-4150-8971-7F6896B9A59D}"/>
              </a:ext>
            </a:extLst>
          </p:cNvPr>
          <p:cNvSpPr>
            <a:spLocks noGrp="1"/>
          </p:cNvSpPr>
          <p:nvPr/>
        </p:nvSpPr>
        <p:spPr>
          <a:xfrm>
            <a:off x="1181100" y="3581400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Account / legacy auth bridge 收口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77F974-E289-4680-BC47-C4C4736B0F49}"/>
              </a:ext>
            </a:extLst>
          </p:cNvPr>
          <p:cNvSpPr>
            <a:spLocks noGrp="1"/>
          </p:cNvSpPr>
          <p:nvPr/>
        </p:nvSpPr>
        <p:spPr>
          <a:xfrm>
            <a:off x="990600" y="40862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5949F2-9121-4E41-B427-6F2404B145DA}"/>
              </a:ext>
            </a:extLst>
          </p:cNvPr>
          <p:cNvSpPr>
            <a:spLocks noGrp="1"/>
          </p:cNvSpPr>
          <p:nvPr/>
        </p:nvSpPr>
        <p:spPr>
          <a:xfrm>
            <a:off x="1181100" y="4010025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Workflow runtime 与 service token 回调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F7AA40-CB96-419B-921F-ADE5E26A1219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2971800" cy="29908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898075-0D2B-43BE-88C3-8286064AAF87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29718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D69149-66C3-4E09-8316-4BD6BFBB3EB1}"/>
              </a:ext>
            </a:extLst>
          </p:cNvPr>
          <p:cNvSpPr>
            <a:spLocks noGrp="1"/>
          </p:cNvSpPr>
          <p:nvPr/>
        </p:nvSpPr>
        <p:spPr>
          <a:xfrm>
            <a:off x="4572000" y="2266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F46E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业务闭环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46C3B8-DCBF-42D4-82C5-EA0FA7C56F7A}"/>
              </a:ext>
            </a:extLst>
          </p:cNvPr>
          <p:cNvSpPr>
            <a:spLocks noGrp="1"/>
          </p:cNvSpPr>
          <p:nvPr/>
        </p:nvSpPr>
        <p:spPr>
          <a:xfrm>
            <a:off x="4629150" y="2800350"/>
            <a:ext cx="7620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4FEFA9-6025-4549-8C76-73C7A6AE6E47}"/>
              </a:ext>
            </a:extLst>
          </p:cNvPr>
          <p:cNvSpPr>
            <a:spLocks noGrp="1"/>
          </p:cNvSpPr>
          <p:nvPr/>
        </p:nvSpPr>
        <p:spPr>
          <a:xfrm>
            <a:off x="4819650" y="2724150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Aims PIVR 项目闭环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62CF9D-50C6-4970-93BF-03D1E3731A4E}"/>
              </a:ext>
            </a:extLst>
          </p:cNvPr>
          <p:cNvSpPr>
            <a:spLocks noGrp="1"/>
          </p:cNvSpPr>
          <p:nvPr/>
        </p:nvSpPr>
        <p:spPr>
          <a:xfrm>
            <a:off x="4629150" y="3228975"/>
            <a:ext cx="7620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102974-5F68-4A09-A629-AB0FBA85A4C1}"/>
              </a:ext>
            </a:extLst>
          </p:cNvPr>
          <p:cNvSpPr>
            <a:spLocks noGrp="1"/>
          </p:cNvSpPr>
          <p:nvPr/>
        </p:nvSpPr>
        <p:spPr>
          <a:xfrm>
            <a:off x="4819650" y="3152775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Altoc -&gt; Aims 经营交付桥接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578284-39A3-4B51-BBC0-105C38C992A9}"/>
              </a:ext>
            </a:extLst>
          </p:cNvPr>
          <p:cNvSpPr>
            <a:spLocks noGrp="1"/>
          </p:cNvSpPr>
          <p:nvPr/>
        </p:nvSpPr>
        <p:spPr>
          <a:xfrm>
            <a:off x="4629150" y="3657600"/>
            <a:ext cx="7620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90538C-FD89-43F3-97FA-76A088E556F2}"/>
              </a:ext>
            </a:extLst>
          </p:cNvPr>
          <p:cNvSpPr>
            <a:spLocks noGrp="1"/>
          </p:cNvSpPr>
          <p:nvPr/>
        </p:nvSpPr>
        <p:spPr>
          <a:xfrm>
            <a:off x="4819650" y="3581400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Finance 台账、核销、项目核算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210FF4-9A59-4A37-8FC5-6B3A6FC937C9}"/>
              </a:ext>
            </a:extLst>
          </p:cNvPr>
          <p:cNvSpPr>
            <a:spLocks noGrp="1"/>
          </p:cNvSpPr>
          <p:nvPr/>
        </p:nvSpPr>
        <p:spPr>
          <a:xfrm>
            <a:off x="4629150" y="4086225"/>
            <a:ext cx="7620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BF86F1-3E15-421F-B630-A91F1377BD00}"/>
              </a:ext>
            </a:extLst>
          </p:cNvPr>
          <p:cNvSpPr>
            <a:spLocks noGrp="1"/>
          </p:cNvSpPr>
          <p:nvPr/>
        </p:nvSpPr>
        <p:spPr>
          <a:xfrm>
            <a:off x="4819650" y="4010025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Assets 采购、分配、处置和成本归因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64BF33-6996-4E81-B218-CFDB3501BB08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2971800" cy="299085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2151D8-D4B9-4CBE-BB0B-E4B27DDAE155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297180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2E3F6EF-2EE9-4614-8D95-D2B300649C3B}"/>
              </a:ext>
            </a:extLst>
          </p:cNvPr>
          <p:cNvSpPr>
            <a:spLocks noGrp="1"/>
          </p:cNvSpPr>
          <p:nvPr/>
        </p:nvSpPr>
        <p:spPr>
          <a:xfrm>
            <a:off x="8210550" y="2266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部署产品化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44B6CD-9467-4D84-BB93-8803FF7D82C8}"/>
              </a:ext>
            </a:extLst>
          </p:cNvPr>
          <p:cNvSpPr>
            <a:spLocks noGrp="1"/>
          </p:cNvSpPr>
          <p:nvPr/>
        </p:nvSpPr>
        <p:spPr>
          <a:xfrm>
            <a:off x="8267700" y="2800350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4A60DD8-82EE-4605-A2CE-F4393E6B80A5}"/>
              </a:ext>
            </a:extLst>
          </p:cNvPr>
          <p:cNvSpPr>
            <a:spLocks noGrp="1"/>
          </p:cNvSpPr>
          <p:nvPr/>
        </p:nvSpPr>
        <p:spPr>
          <a:xfrm>
            <a:off x="8458200" y="2724150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统一域名与 path routing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A582C8-0B84-44C7-9912-EE4E11AA1227}"/>
              </a:ext>
            </a:extLst>
          </p:cNvPr>
          <p:cNvSpPr>
            <a:spLocks noGrp="1"/>
          </p:cNvSpPr>
          <p:nvPr/>
        </p:nvSpPr>
        <p:spPr>
          <a:xfrm>
            <a:off x="8267700" y="3228975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4C03DC-A646-4C4B-9AC2-8BCAC541C1E2}"/>
              </a:ext>
            </a:extLst>
          </p:cNvPr>
          <p:cNvSpPr>
            <a:spLocks noGrp="1"/>
          </p:cNvSpPr>
          <p:nvPr/>
        </p:nvSpPr>
        <p:spPr>
          <a:xfrm>
            <a:off x="8458200" y="3152775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Tenant Gateway + Cloudflare Workers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2C060C0-EA08-4235-A921-5E040E65DEAA}"/>
              </a:ext>
            </a:extLst>
          </p:cNvPr>
          <p:cNvSpPr>
            <a:spLocks noGrp="1"/>
          </p:cNvSpPr>
          <p:nvPr/>
        </p:nvSpPr>
        <p:spPr>
          <a:xfrm>
            <a:off x="8267700" y="3657600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F4F753-F08C-4AEA-800A-1C4DD4F8007C}"/>
              </a:ext>
            </a:extLst>
          </p:cNvPr>
          <p:cNvSpPr>
            <a:spLocks noGrp="1"/>
          </p:cNvSpPr>
          <p:nvPr/>
        </p:nvSpPr>
        <p:spPr>
          <a:xfrm>
            <a:off x="8458200" y="3581400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Data Runtime Agent 与 Tunnel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D45BF1-BEEC-4FE4-82D5-93FDC7D0AA81}"/>
              </a:ext>
            </a:extLst>
          </p:cNvPr>
          <p:cNvSpPr>
            <a:spLocks noGrp="1"/>
          </p:cNvSpPr>
          <p:nvPr/>
        </p:nvSpPr>
        <p:spPr>
          <a:xfrm>
            <a:off x="8267700" y="4086225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6CBC357-02FC-40EB-B278-FAABCD0319EB}"/>
              </a:ext>
            </a:extLst>
          </p:cNvPr>
          <p:cNvSpPr>
            <a:spLocks noGrp="1"/>
          </p:cNvSpPr>
          <p:nvPr/>
        </p:nvSpPr>
        <p:spPr>
          <a:xfrm>
            <a:off x="8458200" y="4010025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Platform Dashboard 管部署、schema、健康状态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6CB2A49-1198-4480-872F-022D150CA316}"/>
              </a:ext>
            </a:extLst>
          </p:cNvPr>
          <p:cNvSpPr>
            <a:spLocks noGrp="1"/>
          </p:cNvSpPr>
          <p:nvPr/>
        </p:nvSpPr>
        <p:spPr>
          <a:xfrm>
            <a:off x="133350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优先级判断：先跑通新平台和新接入层，再让 Aims 试跑，再让 Codocs / 其他模块兼容接入。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7EF7DD-930D-45B5-BF73-B861E8D3D070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BF90A05-4ED9-47F5-87FC-46F9B378CDBB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来源：docs/Implementation-Backlog.md 与各模块 CLAUDE.md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42DBE82-41C9-472F-BE5F-A69A905C4E18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7158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686315C6-9826-464A-A8B5-33BDBF0F2B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B545D95-C51B-4A07-BD42-ECABEEBE3D88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21A0F2A-F9B7-44FB-AAA6-24C443A79859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FIRST WEEK CHECKLIST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C66D60-81DA-4C82-8CFC-F24C9DA2A2AB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 dirty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目标不是记住全部细节，而是能做正确的边界判断</a:t>
            </a:r>
            <a:r>
              <a:rPr sz="2775" b="1" dirty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4754C9-4CDA-42EA-A253-0E0CD9F80730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95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33A613-B2F9-437B-A56F-5831D2F04FAE}"/>
              </a:ext>
            </a:extLst>
          </p:cNvPr>
          <p:cNvSpPr>
            <a:spLocks noGrp="1"/>
          </p:cNvSpPr>
          <p:nvPr/>
        </p:nvSpPr>
        <p:spPr>
          <a:xfrm>
            <a:off x="1600200" y="18097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启动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AABC91-C89A-4284-B59A-0A33B578930A}"/>
              </a:ext>
            </a:extLst>
          </p:cNvPr>
          <p:cNvSpPr>
            <a:spLocks noGrp="1"/>
          </p:cNvSpPr>
          <p:nvPr/>
        </p:nvSpPr>
        <p:spPr>
          <a:xfrm>
            <a:off x="2533650" y="1819275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能启动一个基础模块和一个业务模块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5B4967-086F-4BBD-B593-BB3536B2E927}"/>
              </a:ext>
            </a:extLst>
          </p:cNvPr>
          <p:cNvSpPr>
            <a:spLocks noGrp="1"/>
          </p:cNvSpPr>
          <p:nvPr/>
        </p:nvSpPr>
        <p:spPr>
          <a:xfrm>
            <a:off x="1600200" y="2324100"/>
            <a:ext cx="3390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9D1AD2-CF67-4A53-B578-F3E65A899CB1}"/>
              </a:ext>
            </a:extLst>
          </p:cNvPr>
          <p:cNvSpPr>
            <a:spLocks noGrp="1"/>
          </p:cNvSpPr>
          <p:nvPr/>
        </p:nvSpPr>
        <p:spPr>
          <a:xfrm>
            <a:off x="5905500" y="1790700"/>
            <a:ext cx="495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F46E5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EBE801-CD32-4C5F-BB49-1F46AB5557BD}"/>
              </a:ext>
            </a:extLst>
          </p:cNvPr>
          <p:cNvSpPr>
            <a:spLocks noGrp="1"/>
          </p:cNvSpPr>
          <p:nvPr/>
        </p:nvSpPr>
        <p:spPr>
          <a:xfrm>
            <a:off x="6553200" y="18097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事实源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0C022A-A10C-4E4D-A641-E2563AE41BAC}"/>
              </a:ext>
            </a:extLst>
          </p:cNvPr>
          <p:cNvSpPr>
            <a:spLocks noGrp="1"/>
          </p:cNvSpPr>
          <p:nvPr/>
        </p:nvSpPr>
        <p:spPr>
          <a:xfrm>
            <a:off x="7486650" y="1819275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能说清 Account 迁移期与 Console 目标状态的区别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308DFE-FE87-4FBC-B296-F125D339704A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3390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DFF3CB-791C-425E-AC80-0DDB9041F19E}"/>
              </a:ext>
            </a:extLst>
          </p:cNvPr>
          <p:cNvSpPr>
            <a:spLocks noGrp="1"/>
          </p:cNvSpPr>
          <p:nvPr/>
        </p:nvSpPr>
        <p:spPr>
          <a:xfrm>
            <a:off x="952500" y="2819400"/>
            <a:ext cx="495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F09696-91C9-45B7-90CB-D2706E75192E}"/>
              </a:ext>
            </a:extLst>
          </p:cNvPr>
          <p:cNvSpPr>
            <a:spLocks noGrp="1"/>
          </p:cNvSpPr>
          <p:nvPr/>
        </p:nvSpPr>
        <p:spPr>
          <a:xfrm>
            <a:off x="1600200" y="28384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集成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06706F-E035-4F05-BC7C-E3133EAB709D}"/>
              </a:ext>
            </a:extLst>
          </p:cNvPr>
          <p:cNvSpPr>
            <a:spLocks noGrp="1"/>
          </p:cNvSpPr>
          <p:nvPr/>
        </p:nvSpPr>
        <p:spPr>
          <a:xfrm>
            <a:off x="2533650" y="2847975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能设计一次不跨库 JOIN 的跨模块读取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067DA3-4425-4EF0-951C-0DB45F2A2D19}"/>
              </a:ext>
            </a:extLst>
          </p:cNvPr>
          <p:cNvSpPr>
            <a:spLocks noGrp="1"/>
          </p:cNvSpPr>
          <p:nvPr/>
        </p:nvSpPr>
        <p:spPr>
          <a:xfrm>
            <a:off x="1600200" y="3352800"/>
            <a:ext cx="3390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52FDBD-BC45-4B52-B010-5A55D149F090}"/>
              </a:ext>
            </a:extLst>
          </p:cNvPr>
          <p:cNvSpPr>
            <a:spLocks noGrp="1"/>
          </p:cNvSpPr>
          <p:nvPr/>
        </p:nvSpPr>
        <p:spPr>
          <a:xfrm>
            <a:off x="5905500" y="2819400"/>
            <a:ext cx="495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F46E5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1E5454-690E-4139-9BBC-17AE59E2522C}"/>
              </a:ext>
            </a:extLst>
          </p:cNvPr>
          <p:cNvSpPr>
            <a:spLocks noGrp="1"/>
          </p:cNvSpPr>
          <p:nvPr/>
        </p:nvSpPr>
        <p:spPr>
          <a:xfrm>
            <a:off x="6553200" y="28384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认证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258F24-23EC-4C25-A515-D81191BC0BFB}"/>
              </a:ext>
            </a:extLst>
          </p:cNvPr>
          <p:cNvSpPr>
            <a:spLocks noGrp="1"/>
          </p:cNvSpPr>
          <p:nvPr/>
        </p:nvSpPr>
        <p:spPr>
          <a:xfrm>
            <a:off x="7486650" y="2847975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能解释 Console OIDC 与 service token 的用途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041BF2-B66B-4CF8-88EA-6839B56AA4D1}"/>
              </a:ext>
            </a:extLst>
          </p:cNvPr>
          <p:cNvSpPr>
            <a:spLocks noGrp="1"/>
          </p:cNvSpPr>
          <p:nvPr/>
        </p:nvSpPr>
        <p:spPr>
          <a:xfrm>
            <a:off x="6553200" y="3352800"/>
            <a:ext cx="3390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4AEC3E-7FFA-4E3B-BB43-614E842F99CA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495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285764-2972-4BAF-A6F8-F7681684DD12}"/>
              </a:ext>
            </a:extLst>
          </p:cNvPr>
          <p:cNvSpPr>
            <a:spLocks noGrp="1"/>
          </p:cNvSpPr>
          <p:nvPr/>
        </p:nvSpPr>
        <p:spPr>
          <a:xfrm>
            <a:off x="1600200" y="38671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落点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9D7DF4-A8ED-4B3B-92E3-B73F38636D54}"/>
              </a:ext>
            </a:extLst>
          </p:cNvPr>
          <p:cNvSpPr>
            <a:spLocks noGrp="1"/>
          </p:cNvSpPr>
          <p:nvPr/>
        </p:nvSpPr>
        <p:spPr>
          <a:xfrm>
            <a:off x="2533650" y="3876675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能判断需求应落在 Platform、Console、Foundation 还是业务模块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1B8344C-7510-46D8-8978-C7442F792D24}"/>
              </a:ext>
            </a:extLst>
          </p:cNvPr>
          <p:cNvSpPr>
            <a:spLocks noGrp="1"/>
          </p:cNvSpPr>
          <p:nvPr/>
        </p:nvSpPr>
        <p:spPr>
          <a:xfrm>
            <a:off x="1600200" y="4381500"/>
            <a:ext cx="3390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740880F-B237-423B-8B11-9403BE11ACCB}"/>
              </a:ext>
            </a:extLst>
          </p:cNvPr>
          <p:cNvSpPr>
            <a:spLocks noGrp="1"/>
          </p:cNvSpPr>
          <p:nvPr/>
        </p:nvSpPr>
        <p:spPr>
          <a:xfrm>
            <a:off x="5905500" y="3848100"/>
            <a:ext cx="495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F46E5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4F46E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0D4953-E1A5-4F2E-9505-7F88A53B4EFC}"/>
              </a:ext>
            </a:extLst>
          </p:cNvPr>
          <p:cNvSpPr>
            <a:spLocks noGrp="1"/>
          </p:cNvSpPr>
          <p:nvPr/>
        </p:nvSpPr>
        <p:spPr>
          <a:xfrm>
            <a:off x="6553200" y="38671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75CD31-812D-4898-AF50-3DE67CDEF8FB}"/>
              </a:ext>
            </a:extLst>
          </p:cNvPr>
          <p:cNvSpPr>
            <a:spLocks noGrp="1"/>
          </p:cNvSpPr>
          <p:nvPr/>
        </p:nvSpPr>
        <p:spPr>
          <a:xfrm>
            <a:off x="7486650" y="3876675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完成一处小改动并同步必要 schema/API/设计文档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377D6C-D78B-41A2-99F8-E732547F09CC}"/>
              </a:ext>
            </a:extLst>
          </p:cNvPr>
          <p:cNvSpPr>
            <a:spLocks noGrp="1"/>
          </p:cNvSpPr>
          <p:nvPr/>
        </p:nvSpPr>
        <p:spPr>
          <a:xfrm>
            <a:off x="6553200" y="4381500"/>
            <a:ext cx="33909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113ECE1-FFB7-48DD-B79D-69F550D7CE6A}"/>
              </a:ext>
            </a:extLst>
          </p:cNvPr>
          <p:cNvSpPr>
            <a:spLocks noGrp="1"/>
          </p:cNvSpPr>
          <p:nvPr/>
        </p:nvSpPr>
        <p:spPr>
          <a:xfrm>
            <a:off x="1600200" y="5257800"/>
            <a:ext cx="8229600" cy="49530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007F1E-21D5-46A5-885C-63CE92D02531}"/>
              </a:ext>
            </a:extLst>
          </p:cNvPr>
          <p:cNvSpPr>
            <a:spLocks noGrp="1"/>
          </p:cNvSpPr>
          <p:nvPr/>
        </p:nvSpPr>
        <p:spPr>
          <a:xfrm>
            <a:off x="1885950" y="5410200"/>
            <a:ext cx="7658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核心心智：平台治理归 Platform，企业运行归 Console，复用能力归 Foundation，业务事实归各业务模块。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D8422C7-9CCF-4D37-AD0C-ECC6B8CC4F91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8E4DF9-EC01-48B8-BFB7-BFE1D3A38036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汇智云项目介绍 / 新人入门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707BEE3-2102-4524-BBE9-3E01CDD17395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7708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4F534DF-1F55-4612-A462-9DAC81479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66B1955-840B-462E-9CFB-B15E9BD84EC2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8678C10-3D69-4CA5-8449-3A0D7C9B0DB6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REPOSITORY WORKSPACE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FC95FE-47F9-4BDE-B325-F4F07E474B1B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990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代码不是一个单仓库；先 clone foundation 成 huizhi-yun，再在里面 clone 其他模块仓库。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D58E22-9125-42C0-96A7-CDB9A544EDD7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2647950" cy="1219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6419CF-DA2B-470D-9FDE-9D374E5BD9C8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57150" cy="1219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3D101D-7D3C-42F4-9D57-6647405A9A8E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1. 创建工作区根目录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4F5B33-A603-4F80-9B14-A746A25DB455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2266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git clone .../foundation.git huizhi-yun</a:t>
            </a:r>
          </a:p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cd huizhi-yun</a:t>
            </a:r>
          </a:p>
          <a:p>
            <a:endParaRPr sz="915" b="0">
              <a:solidFill>
                <a:srgbClr val="64748B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foundation 仓库提供根目录文档、pnpm-workspace 和共享层语境。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FED243-E48A-4FB3-8C7E-F92AA54EA43D}"/>
              </a:ext>
            </a:extLst>
          </p:cNvPr>
          <p:cNvSpPr>
            <a:spLocks noGrp="1"/>
          </p:cNvSpPr>
          <p:nvPr/>
        </p:nvSpPr>
        <p:spPr>
          <a:xfrm>
            <a:off x="4248150" y="1885950"/>
            <a:ext cx="2647950" cy="1219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05160C-7353-4574-803E-54D6EAAAA41B}"/>
              </a:ext>
            </a:extLst>
          </p:cNvPr>
          <p:cNvSpPr>
            <a:spLocks noGrp="1"/>
          </p:cNvSpPr>
          <p:nvPr/>
        </p:nvSpPr>
        <p:spPr>
          <a:xfrm>
            <a:off x="4248150" y="1885950"/>
            <a:ext cx="57150" cy="1219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C19C40-3C30-4015-88FD-87115ED36B56}"/>
              </a:ext>
            </a:extLst>
          </p:cNvPr>
          <p:cNvSpPr>
            <a:spLocks noGrp="1"/>
          </p:cNvSpPr>
          <p:nvPr/>
        </p:nvSpPr>
        <p:spPr>
          <a:xfrm>
            <a:off x="4438650" y="2057400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F46E5"/>
                </a:solidFill>
                <a:latin typeface="PingFang SC"/>
                <a:ea typeface="PingFang SC"/>
                <a:cs typeface="PingFang SC"/>
              </a:rPr>
              <a:t>2. clone 平台与运行时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852F3B-1248-4589-8476-1380FD5E5EE9}"/>
              </a:ext>
            </a:extLst>
          </p:cNvPr>
          <p:cNvSpPr>
            <a:spLocks noGrp="1"/>
          </p:cNvSpPr>
          <p:nvPr/>
        </p:nvSpPr>
        <p:spPr>
          <a:xfrm>
            <a:off x="4438650" y="2400300"/>
            <a:ext cx="2266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platform / console / account</a:t>
            </a:r>
          </a:p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workflow / collab</a:t>
            </a:r>
          </a:p>
          <a:p>
            <a:endParaRPr sz="915" b="0">
              <a:solidFill>
                <a:srgbClr val="64748B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每个目录都是独立 Git 仓库。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00B671-AA0E-450D-80FC-7C83E0192377}"/>
              </a:ext>
            </a:extLst>
          </p:cNvPr>
          <p:cNvSpPr>
            <a:spLocks noGrp="1"/>
          </p:cNvSpPr>
          <p:nvPr/>
        </p:nvSpPr>
        <p:spPr>
          <a:xfrm>
            <a:off x="7772400" y="1885950"/>
            <a:ext cx="2647950" cy="1219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8F8747-AEDB-49BA-9841-1ADB40ADC6DD}"/>
              </a:ext>
            </a:extLst>
          </p:cNvPr>
          <p:cNvSpPr>
            <a:spLocks noGrp="1"/>
          </p:cNvSpPr>
          <p:nvPr/>
        </p:nvSpPr>
        <p:spPr>
          <a:xfrm>
            <a:off x="7772400" y="1885950"/>
            <a:ext cx="57150" cy="1219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9999E0-286A-45BB-9671-664B3678BC7D}"/>
              </a:ext>
            </a:extLst>
          </p:cNvPr>
          <p:cNvSpPr>
            <a:spLocks noGrp="1"/>
          </p:cNvSpPr>
          <p:nvPr/>
        </p:nvSpPr>
        <p:spPr>
          <a:xfrm>
            <a:off x="7962900" y="2057400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3. clone 业务应用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700257-924A-412E-8B9F-0022D8A72830}"/>
              </a:ext>
            </a:extLst>
          </p:cNvPr>
          <p:cNvSpPr>
            <a:spLocks noGrp="1"/>
          </p:cNvSpPr>
          <p:nvPr/>
        </p:nvSpPr>
        <p:spPr>
          <a:xfrm>
            <a:off x="7962900" y="2400300"/>
            <a:ext cx="2266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codocs / aims / altoc</a:t>
            </a:r>
          </a:p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finance / assets / align / insights</a:t>
            </a:r>
          </a:p>
          <a:p>
            <a:endParaRPr sz="915" b="0">
              <a:solidFill>
                <a:srgbClr val="64748B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再执行 pnpm install。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8CDE12-723E-49D8-A675-8B5B4C82A812}"/>
              </a:ext>
            </a:extLst>
          </p:cNvPr>
          <p:cNvSpPr>
            <a:spLocks noGrp="1"/>
          </p:cNvSpPr>
          <p:nvPr/>
        </p:nvSpPr>
        <p:spPr>
          <a:xfrm>
            <a:off x="3486150" y="2495550"/>
            <a:ext cx="5334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5FFA1D-11DA-43BE-9C13-64C6DFD41DF4}"/>
              </a:ext>
            </a:extLst>
          </p:cNvPr>
          <p:cNvSpPr>
            <a:spLocks noGrp="1"/>
          </p:cNvSpPr>
          <p:nvPr/>
        </p:nvSpPr>
        <p:spPr>
          <a:xfrm>
            <a:off x="4019550" y="245745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D6D276-11ED-42F6-9CEF-C095CF1BBECD}"/>
              </a:ext>
            </a:extLst>
          </p:cNvPr>
          <p:cNvSpPr>
            <a:spLocks noGrp="1"/>
          </p:cNvSpPr>
          <p:nvPr/>
        </p:nvSpPr>
        <p:spPr>
          <a:xfrm>
            <a:off x="7010400" y="2495550"/>
            <a:ext cx="533400" cy="190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1B6F37-C779-448A-BBD6-4B852019AAC1}"/>
              </a:ext>
            </a:extLst>
          </p:cNvPr>
          <p:cNvSpPr>
            <a:spLocks noGrp="1"/>
          </p:cNvSpPr>
          <p:nvPr/>
        </p:nvSpPr>
        <p:spPr>
          <a:xfrm>
            <a:off x="7543800" y="2457450"/>
            <a:ext cx="95250" cy="952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E5A37F-680A-46F0-A30C-5715F9935EFE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4305300" cy="171450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B6F82D-F957-44E3-B6E4-3FDE0D5DD742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目标目录结构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09619A-190D-4E18-9631-093C346686A7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35052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huizhi-yun/</a:t>
            </a:r>
          </a:p>
          <a:p>
            <a:pPr algn="l">
              <a:def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├── docs/ deploy/ package.json pnpm-workspace.yaml</a:t>
            </a:r>
          </a:p>
          <a:p>
            <a:pPr algn="l">
              <a:def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├── foundation/ platform/ console/</a:t>
            </a:r>
          </a:p>
          <a:p>
            <a:pPr algn="l">
              <a:def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├── account/ workflow/ collab/</a:t>
            </a:r>
          </a:p>
          <a:p>
            <a:pPr algn="l">
              <a:def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870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└── codocs/ aims/ altoc/ finance/ assets/ align/ insights/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5F14CE-DD4D-4FA6-9344-6F4B50C72E4E}"/>
              </a:ext>
            </a:extLst>
          </p:cNvPr>
          <p:cNvSpPr>
            <a:spLocks noGrp="1"/>
          </p:cNvSpPr>
          <p:nvPr/>
        </p:nvSpPr>
        <p:spPr>
          <a:xfrm>
            <a:off x="5905500" y="3867150"/>
            <a:ext cx="4495800" cy="1714500"/>
          </a:xfrm>
          <a:prstGeom prst="rect">
            <a:avLst/>
          </a:prstGeom>
          <a:solidFill>
            <a:srgbClr val="FFFDF7"/>
          </a:solidFill>
          <a:ln w="9525">
            <a:solidFill>
              <a:srgbClr val="D8CC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ABBA639-B10F-4177-9E63-BEE2EF601A68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开发时的 Git 心智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1EE80E-0B32-4974-8ED0-DEDCA32EAFDF}"/>
              </a:ext>
            </a:extLst>
          </p:cNvPr>
          <p:cNvSpPr>
            <a:spLocks noGrp="1"/>
          </p:cNvSpPr>
          <p:nvPr/>
        </p:nvSpPr>
        <p:spPr>
          <a:xfrm>
            <a:off x="6191250" y="4533900"/>
            <a:ext cx="3638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根目录命令负责编排 workspace，例如 pnpm --filter aims dev；提交代码时要进入具体模块仓库查看 git status。根目录文档、部署脚本和 workspace 配置才在根仓库提交。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977881-23D7-48AF-91B1-1B65EFF6F125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762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D494E5-FB25-49C1-9F82-02C4D81EB445}"/>
              </a:ext>
            </a:extLst>
          </p:cNvPr>
          <p:cNvSpPr>
            <a:spLocks noGrp="1"/>
          </p:cNvSpPr>
          <p:nvPr/>
        </p:nvSpPr>
        <p:spPr>
          <a:xfrm>
            <a:off x="6362700" y="51435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不要按 Git submodule 理解；当前是多个普通 Git 仓库并排放置。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7E8A23-6D88-41E0-A2ED-761A18E34122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11125200" cy="9525"/>
          </a:xfrm>
          <a:prstGeom prst="rect">
            <a:avLst/>
          </a:prstGeom>
          <a:solidFill>
            <a:srgbClr val="D8CC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D0C98FE-A319-4BDB-A05A-CF33385AD172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代码仓库结构 / 多仓 workspace clone 顺序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717468-3D67-4EDD-A680-218840F8941F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4748B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916090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1522</Words>
  <Application>Microsoft Macintosh PowerPoint</Application>
  <DocSecurity>0</DocSecurity>
  <PresentationFormat>宽屏</PresentationFormat>
  <Paragraphs>401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PingFang SC</vt:lpstr>
      <vt:lpstr>Avenir Next</vt:lpstr>
      <vt:lpstr>Calibri</vt:lpstr>
      <vt:lpstr>Georgia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光营 周</cp:lastModifiedBy>
  <cp:revision>1</cp:revision>
  <dcterms:created xsi:type="dcterms:W3CDTF">2026-05-25T00:58:03Z</dcterms:created>
  <dcterms:modified xsi:type="dcterms:W3CDTF">2026-05-25T02:25:14Z</dcterms:modified>
</cp:coreProperties>
</file>